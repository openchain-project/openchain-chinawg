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718"/>
  </p:normalViewPr>
  <p:slideViewPr>
    <p:cSldViewPr snapToGrid="0">
      <p:cViewPr varScale="1">
        <p:scale>
          <a:sx n="117" d="100"/>
          <a:sy n="117" d="100"/>
        </p:scale>
        <p:origin x="384" y="1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"/>
          </p:nvPr>
        </p:nvSpPr>
        <p:spPr>
          <a:xfrm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ctr">
              <a:lnSpc>
                <a:spcPct val="116666"/>
              </a:lnSpc>
              <a:defRPr sz="5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"/>
          </p:nvPr>
        </p:nvSpPr>
        <p:spPr>
          <a:xfrm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3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" hasCustomPrompt="1"/>
          </p:nvPr>
        </p:nvSpPr>
        <p:spPr>
          <a:xfrm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" hasCustomPrompt="1"/>
          </p:nvPr>
        </p:nvSpPr>
        <p:spPr>
          <a:xfrm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7"/>
          </p:nvPr>
        </p:nvSpPr>
        <p:spPr>
          <a:xfrm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body" sz="quarter" idx="8"/>
          </p:nvPr>
        </p:nvSpPr>
        <p:spPr>
          <a:xfrm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body" sz="quarter" idx="9"/>
          </p:nvPr>
        </p:nvSpPr>
        <p:spPr>
          <a:xfrm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10"/>
          </p:nvPr>
        </p:nvSpPr>
        <p:spPr>
          <a:xfrm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11"/>
          </p:nvPr>
        </p:nvSpPr>
        <p:spPr>
          <a:xfrm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12"/>
          </p:nvPr>
        </p:nvSpPr>
        <p:spPr>
          <a:xfrm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13"/>
          </p:nvPr>
        </p:nvSpPr>
        <p:spPr>
          <a:xfrm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14"/>
          </p:nvPr>
        </p:nvSpPr>
        <p:spPr>
          <a:xfrm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5399999" flipV="1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" name="AutoShape 3"/>
          <p:cNvSpPr>
            <a:spLocks noGrp="1"/>
          </p:cNvSpPr>
          <p:nvPr>
            <p:ph type="body" sz="quarter" idx="15"/>
          </p:nvPr>
        </p:nvSpPr>
        <p:spPr>
          <a:xfrm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6"/>
          </p:nvPr>
        </p:nvSpPr>
        <p:spPr>
          <a:xfrm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17"/>
          </p:nvPr>
        </p:nvSpPr>
        <p:spPr>
          <a:xfrm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8"/>
          </p:nvPr>
        </p:nvSpPr>
        <p:spPr>
          <a:xfrm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9"/>
          </p:nvPr>
        </p:nvSpPr>
        <p:spPr>
          <a:xfrm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20"/>
          </p:nvPr>
        </p:nvSpPr>
        <p:spPr>
          <a:xfrm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/>
          </p:nvPr>
        </p:nvSpPr>
        <p:spPr>
          <a:xfrm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/>
          </p:nvPr>
        </p:nvSpPr>
        <p:spPr>
          <a:xfrm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/>
          </p:nvPr>
        </p:nvSpPr>
        <p:spPr>
          <a:xfrm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24"/>
          </p:nvPr>
        </p:nvSpPr>
        <p:spPr>
          <a:xfrm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25"/>
          </p:nvPr>
        </p:nvSpPr>
        <p:spPr>
          <a:xfrm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6"/>
          </p:nvPr>
        </p:nvSpPr>
        <p:spPr>
          <a:xfrm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7"/>
          </p:nvPr>
        </p:nvSpPr>
        <p:spPr>
          <a:xfrm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8"/>
          </p:nvPr>
        </p:nvSpPr>
        <p:spPr>
          <a:xfrm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9"/>
          </p:nvPr>
        </p:nvSpPr>
        <p:spPr>
          <a:xfrm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30"/>
          </p:nvPr>
        </p:nvSpPr>
        <p:spPr>
          <a:xfrm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31"/>
          </p:nvPr>
        </p:nvSpPr>
        <p:spPr>
          <a:xfrm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32"/>
          </p:nvPr>
        </p:nvSpPr>
        <p:spPr>
          <a:xfrm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3"/>
          </p:nvPr>
        </p:nvSpPr>
        <p:spPr>
          <a:xfrm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34"/>
          </p:nvPr>
        </p:nvSpPr>
        <p:spPr>
          <a:xfrm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35"/>
          </p:nvPr>
        </p:nvSpPr>
        <p:spPr>
          <a:xfrm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36"/>
          </p:nvPr>
        </p:nvSpPr>
        <p:spPr>
          <a:xfrm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37"/>
          </p:nvPr>
        </p:nvSpPr>
        <p:spPr>
          <a:xfrm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8"/>
          </p:nvPr>
        </p:nvSpPr>
        <p:spPr>
          <a:xfrm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9"/>
          </p:nvPr>
        </p:nvSpPr>
        <p:spPr>
          <a:xfrm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body" sz="quarter" idx="40"/>
          </p:nvPr>
        </p:nvSpPr>
        <p:spPr>
          <a:xfrm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41"/>
          </p:nvPr>
        </p:nvSpPr>
        <p:spPr>
          <a:xfrm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42"/>
          </p:nvPr>
        </p:nvSpPr>
        <p:spPr>
          <a:xfrm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43"/>
          </p:nvPr>
        </p:nvSpPr>
        <p:spPr>
          <a:xfrm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44"/>
          </p:nvPr>
        </p:nvSpPr>
        <p:spPr>
          <a:xfrm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45"/>
          </p:nvPr>
        </p:nvSpPr>
        <p:spPr>
          <a:xfrm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6"/>
          </p:nvPr>
        </p:nvSpPr>
        <p:spPr>
          <a:xfrm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ctr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47"/>
          </p:nvPr>
        </p:nvSpPr>
        <p:spPr>
          <a:xfrm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48"/>
          </p:nvPr>
        </p:nvSpPr>
        <p:spPr>
          <a:xfrm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49"/>
          </p:nvPr>
        </p:nvSpPr>
        <p:spPr>
          <a:xfrm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50"/>
          </p:nvPr>
        </p:nvSpPr>
        <p:spPr>
          <a:xfrm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51"/>
          </p:nvPr>
        </p:nvSpPr>
        <p:spPr>
          <a:xfrm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52"/>
          </p:nvPr>
        </p:nvSpPr>
        <p:spPr>
          <a:xfrm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body" sz="quarter" idx="53"/>
          </p:nvPr>
        </p:nvSpPr>
        <p:spPr>
          <a:xfrm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54"/>
          </p:nvPr>
        </p:nvSpPr>
        <p:spPr>
          <a:xfrm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55"/>
          </p:nvPr>
        </p:nvSpPr>
        <p:spPr>
          <a:xfrm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56"/>
          </p:nvPr>
        </p:nvSpPr>
        <p:spPr>
          <a:xfrm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57"/>
          </p:nvPr>
        </p:nvSpPr>
        <p:spPr>
          <a:xfrm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58"/>
          </p:nvPr>
        </p:nvSpPr>
        <p:spPr>
          <a:xfrm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/>
          </p:nvPr>
        </p:nvSpPr>
        <p:spPr>
          <a:xfrm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ctr">
              <a:lnSpc>
                <a:spcPct val="116666"/>
              </a:lnSpc>
              <a:defRPr sz="5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/>
          </p:nvPr>
        </p:nvSpPr>
        <p:spPr>
          <a:xfrm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ctr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  <p:sldLayoutId id="2157483700" r:id="rId2"/>
    <p:sldLayoutId id="2157483701" r:id="rId3"/>
    <p:sldLayoutId id="2157483702" r:id="rId4"/>
    <p:sldLayoutId id="2157483703" r:id="rId5"/>
    <p:sldLayoutId id="2157483704" r:id="rId6"/>
    <p:sldLayoutId id="2157483705" r:id="rId7"/>
    <p:sldLayoutId id="2157483706" r:id="rId8"/>
    <p:sldLayoutId id="2157483707" r:id="rId9"/>
    <p:sldLayoutId id="215748370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487680" y="4114800"/>
            <a:ext cx="2926080" cy="2926080"/>
          </a:xfrm>
          <a:prstGeom prst="ellipse">
            <a:avLst/>
          </a:prstGeom>
          <a:solidFill>
            <a:srgbClr val="4A6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876800" y="0"/>
            <a:ext cx="45000" cy="6858000"/>
          </a:xfrm>
          <a:prstGeom prst="rect">
            <a:avLst/>
          </a:prstGeom>
          <a:solidFill>
            <a:srgbClr val="6B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92000" y="6358000"/>
            <a:ext cx="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9BAC"/>
                </a:solidFill>
                <a:latin typeface="Microsoft YaHei"/>
              </a:rPr>
              <a:t>1/22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D300EB7-B1F6-0D61-A2A5-B3D341B23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87252" cy="6858000"/>
          </a:xfrm>
          <a:prstGeom prst="rect">
            <a:avLst/>
          </a:prstGeom>
        </p:spPr>
      </p:pic>
      <p:sp>
        <p:nvSpPr>
          <p:cNvPr id="13" name="AutoShape 2">
            <a:extLst>
              <a:ext uri="{FF2B5EF4-FFF2-40B4-BE49-F238E27FC236}">
                <a16:creationId xmlns:a16="http://schemas.microsoft.com/office/drawing/2014/main" id="{E54223AC-F660-1BC9-AB99-8440995A2B81}"/>
              </a:ext>
            </a:extLst>
          </p:cNvPr>
          <p:cNvSpPr/>
          <p:nvPr/>
        </p:nvSpPr>
        <p:spPr>
          <a:xfrm>
            <a:off x="2438400" y="4813738"/>
            <a:ext cx="7827413" cy="76410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 dirty="0" err="1">
                <a:solidFill>
                  <a:schemeClr val="bg1"/>
                </a:solidFill>
                <a:latin typeface="Microsoft YaHei"/>
                <a:ea typeface="Noto Sans SC"/>
                <a:cs typeface="Noto Sans SC"/>
                <a:sym typeface="Noto Sans SC"/>
              </a:rPr>
              <a:t>面向Agentic</a:t>
            </a:r>
            <a:r>
              <a:rPr lang="zh-CN" altLang="en-US" sz="3400" b="1" i="0" u="none" strike="noStrike" dirty="0">
                <a:solidFill>
                  <a:schemeClr val="bg1"/>
                </a:solidFill>
                <a:latin typeface="Microsoft YaHei"/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CN" sz="3400" b="1" i="0" u="none" strike="noStrike" dirty="0">
                <a:solidFill>
                  <a:schemeClr val="bg1"/>
                </a:solidFill>
                <a:latin typeface="Microsoft YaHei"/>
                <a:ea typeface="Noto Sans SC"/>
                <a:cs typeface="Noto Sans SC"/>
                <a:sym typeface="Noto Sans SC"/>
              </a:rPr>
              <a:t>AI</a:t>
            </a:r>
            <a:r>
              <a:rPr lang="zh-CN" altLang="en-US" sz="3400" b="1" i="0" u="none" strike="noStrike" dirty="0">
                <a:solidFill>
                  <a:schemeClr val="bg1"/>
                </a:solidFill>
                <a:latin typeface="Microsoft YaHei"/>
                <a:ea typeface="Noto Sans SC"/>
                <a:cs typeface="Noto Sans SC"/>
                <a:sym typeface="Noto Sans SC"/>
              </a:rPr>
              <a:t>的开源项目的合规考量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487680" y="4114800"/>
            <a:ext cx="2926080" cy="2926080"/>
          </a:xfrm>
          <a:prstGeom prst="ellipse">
            <a:avLst/>
          </a:prstGeom>
          <a:solidFill>
            <a:srgbClr val="4A6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951876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AutoShape 2"/>
          <p:cNvSpPr/>
          <p:nvPr/>
        </p:nvSpPr>
        <p:spPr>
          <a:xfrm>
            <a:off x="6568343" y="2880360"/>
            <a:ext cx="3444434" cy="2468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 dirty="0" err="1">
                <a:solidFill>
                  <a:srgbClr val="344E6E"/>
                </a:solidFill>
                <a:latin typeface="Microsoft YaHei"/>
                <a:ea typeface="Noto Sans SC"/>
                <a:cs typeface="Noto Sans SC"/>
                <a:sym typeface="Noto Sans SC"/>
              </a:rPr>
              <a:t>概念及特点</a:t>
            </a:r>
            <a:endParaRPr lang="en-US"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11092000" y="6358000"/>
            <a:ext cx="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9BAC"/>
                </a:solidFill>
                <a:latin typeface="Microsoft YaHei"/>
              </a:rPr>
              <a:t>2/22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795708B-F4D9-98E4-3B00-7413EF878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99" y="1931453"/>
            <a:ext cx="4787266" cy="26719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808000"/>
            <a:ext cx="12192000" cy="50000"/>
          </a:xfrm>
          <a:prstGeom prst="rect">
            <a:avLst/>
          </a:prstGeom>
          <a:solidFill>
            <a:srgbClr val="5A7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50000"/>
          </a:xfrm>
          <a:prstGeom prst="rect">
            <a:avLst/>
          </a:prstGeom>
          <a:solidFill>
            <a:srgbClr val="5A7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AutoShape 2"/>
          <p:cNvSpPr/>
          <p:nvPr/>
        </p:nvSpPr>
        <p:spPr>
          <a:xfrm>
            <a:off x="500000" y="280000"/>
            <a:ext cx="11192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44E6E"/>
                </a:solidFill>
                <a:latin typeface="Microsoft YaHei"/>
                <a:ea typeface="Noto Sans SC"/>
                <a:cs typeface="Noto Sans SC"/>
                <a:sym typeface="Noto Sans SC"/>
              </a:rPr>
              <a:t>Agentic AI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142106" y="4652203"/>
            <a:ext cx="8547100" cy="121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1F2329"/>
                </a:solidFill>
                <a:latin typeface="Microsoft YaHei"/>
                <a:ea typeface="Noto Sans SC"/>
                <a:cs typeface="Noto Sans Syriac" panose="020B0502040504020204" pitchFamily="34" charset="0"/>
                <a:sym typeface="Noto Sans SC"/>
              </a:rPr>
              <a:t>Agentic </a:t>
            </a:r>
            <a:r>
              <a:rPr lang="en-US" sz="1600" b="0" i="0" u="none" strike="noStrike" dirty="0" err="1">
                <a:solidFill>
                  <a:srgbClr val="1F2329"/>
                </a:solidFill>
                <a:latin typeface="Microsoft YaHei"/>
                <a:ea typeface="Noto Sans SC"/>
                <a:cs typeface="Noto Sans Syriac" panose="020B0502040504020204" pitchFamily="34" charset="0"/>
                <a:sym typeface="Noto Sans SC"/>
              </a:rPr>
              <a:t>AI是一种人工智能系统，可以在有限的监督下完成特定目标</a:t>
            </a:r>
            <a:r>
              <a:rPr lang="en-US" sz="1600" b="0" i="0" u="none" strike="noStrike" dirty="0">
                <a:solidFill>
                  <a:srgbClr val="1F2329"/>
                </a:solidFill>
                <a:latin typeface="Microsoft YaHei"/>
                <a:ea typeface="Noto Sans SC"/>
                <a:cs typeface="Noto Sans Syriac" panose="020B0502040504020204" pitchFamily="34" charset="0"/>
                <a:sym typeface="Noto Sans SC"/>
              </a:rPr>
              <a:t>。 </a:t>
            </a:r>
            <a:r>
              <a:rPr lang="en-US" sz="1600" b="0" i="0" u="none" strike="noStrike" dirty="0" err="1">
                <a:solidFill>
                  <a:srgbClr val="1F2329"/>
                </a:solidFill>
                <a:latin typeface="Microsoft YaHei"/>
                <a:ea typeface="Noto Sans SC"/>
                <a:cs typeface="Noto Sans Syriac" panose="020B0502040504020204" pitchFamily="34" charset="0"/>
                <a:sym typeface="Noto Sans SC"/>
              </a:rPr>
              <a:t>它由AI</a:t>
            </a:r>
            <a:r>
              <a:rPr lang="en-US" sz="1600" b="0" i="0" u="none" strike="noStrike" dirty="0">
                <a:solidFill>
                  <a:srgbClr val="1F2329"/>
                </a:solidFill>
                <a:latin typeface="Microsoft YaHei"/>
                <a:ea typeface="Noto Sans SC"/>
                <a:cs typeface="Noto Sans Syriac" panose="020B0502040504020204" pitchFamily="34" charset="0"/>
                <a:sym typeface="Noto Sans SC"/>
              </a:rPr>
              <a:t> </a:t>
            </a:r>
            <a:r>
              <a:rPr lang="en-US" sz="1600" b="0" i="0" u="none" strike="noStrike" dirty="0" err="1">
                <a:solidFill>
                  <a:srgbClr val="1F2329"/>
                </a:solidFill>
                <a:latin typeface="Microsoft YaHei"/>
                <a:ea typeface="Noto Sans SC"/>
                <a:cs typeface="Noto Sans Syriac" panose="020B0502040504020204" pitchFamily="34" charset="0"/>
                <a:sym typeface="Noto Sans SC"/>
              </a:rPr>
              <a:t>agent-机器学习模型组成，模仿人类决策实时解决问题。与一般的生成式模型不同，Agentic</a:t>
            </a:r>
            <a:r>
              <a:rPr lang="en-US" sz="1600" b="0" i="0" u="none" strike="noStrike" dirty="0">
                <a:solidFill>
                  <a:srgbClr val="1F2329"/>
                </a:solidFill>
                <a:latin typeface="Microsoft YaHei"/>
                <a:ea typeface="Noto Sans SC"/>
                <a:cs typeface="Noto Sans Syriac" panose="020B0502040504020204" pitchFamily="34" charset="0"/>
                <a:sym typeface="Noto Sans SC"/>
              </a:rPr>
              <a:t> </a:t>
            </a:r>
            <a:r>
              <a:rPr lang="en-US" sz="1600" b="0" i="0" u="none" strike="noStrike" dirty="0" err="1">
                <a:solidFill>
                  <a:srgbClr val="1F2329"/>
                </a:solidFill>
                <a:latin typeface="Microsoft YaHei"/>
                <a:ea typeface="Noto Sans SC"/>
                <a:cs typeface="Noto Sans Syriac" panose="020B0502040504020204" pitchFamily="34" charset="0"/>
                <a:sym typeface="Noto Sans SC"/>
              </a:rPr>
              <a:t>AI表现出自主性、目标驱动的行为和适应性。术语“Agentic”指的是这些模型的代理，或者它们独立和有目的地行动的能力</a:t>
            </a:r>
            <a:r>
              <a:rPr lang="en-US" sz="1600" b="0" i="0" u="none" strike="noStrike" dirty="0">
                <a:solidFill>
                  <a:srgbClr val="1F2329"/>
                </a:solidFill>
                <a:latin typeface="Microsoft YaHei"/>
                <a:ea typeface="Noto Sans SC"/>
                <a:cs typeface="Noto Sans Syriac" panose="020B0502040504020204" pitchFamily="34" charset="0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8" name="TextBox 7"/>
          <p:cNvSpPr txBox="1"/>
          <p:nvPr/>
        </p:nvSpPr>
        <p:spPr>
          <a:xfrm>
            <a:off x="11092000" y="6358000"/>
            <a:ext cx="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E"/>
                </a:solidFill>
                <a:latin typeface="Microsoft YaHei"/>
              </a:rPr>
              <a:t>3/22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62F1DCD-E954-CF40-7E10-9CEE2233E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1" y="1277723"/>
            <a:ext cx="5307286" cy="28948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808000"/>
            <a:ext cx="12192000" cy="50000"/>
          </a:xfrm>
          <a:prstGeom prst="rect">
            <a:avLst/>
          </a:prstGeom>
          <a:solidFill>
            <a:srgbClr val="5A7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71406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AutoShape 2"/>
          <p:cNvSpPr/>
          <p:nvPr/>
        </p:nvSpPr>
        <p:spPr>
          <a:xfrm>
            <a:off x="500000" y="280000"/>
            <a:ext cx="11192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44E6E"/>
                </a:solidFill>
                <a:latin typeface="Microsoft YaHei"/>
                <a:ea typeface="Noto Sans SC"/>
                <a:cs typeface="Noto Sans SC"/>
                <a:sym typeface="Noto Sans SC"/>
              </a:rPr>
              <a:t>Agentic AI架构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739820" y="5532728"/>
            <a:ext cx="84709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Microsoft YaHei"/>
                <a:ea typeface="Noto Sans SC"/>
                <a:cs typeface="Noto Sans SC"/>
                <a:sym typeface="Noto Sans SC"/>
              </a:rPr>
              <a:t>在执行一些复杂的任务时，LLM Agent通常需要调用一些工具，包括Skill、MCP/API以及其他一些tools。</a:t>
            </a:r>
            <a:endParaRPr lang="en-US" sz="1100"/>
          </a:p>
        </p:txBody>
      </p:sp>
      <p:sp>
        <p:nvSpPr>
          <p:cNvPr id="8" name="TextBox 7"/>
          <p:cNvSpPr txBox="1"/>
          <p:nvPr/>
        </p:nvSpPr>
        <p:spPr>
          <a:xfrm>
            <a:off x="11092000" y="6358000"/>
            <a:ext cx="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E"/>
                </a:solidFill>
                <a:latin typeface="Microsoft YaHei"/>
              </a:rPr>
              <a:t>4/22</a:t>
            </a:r>
          </a:p>
        </p:txBody>
      </p:sp>
      <p:sp>
        <p:nvSpPr>
          <p:cNvPr id="9" name="AutoShape 2" descr="单代理设计模式的架构。">
            <a:extLst>
              <a:ext uri="{FF2B5EF4-FFF2-40B4-BE49-F238E27FC236}">
                <a16:creationId xmlns:a16="http://schemas.microsoft.com/office/drawing/2014/main" id="{03E93AB7-0908-EBD0-4B59-E6EE6C521C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AutoShape 6" descr="单代理设计模式的架构。">
            <a:extLst>
              <a:ext uri="{FF2B5EF4-FFF2-40B4-BE49-F238E27FC236}">
                <a16:creationId xmlns:a16="http://schemas.microsoft.com/office/drawing/2014/main" id="{3F6F138E-54E7-7771-FBD4-872456947B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DFE1B99F-6D8D-51F8-13F3-D50146B10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0136" y="1440972"/>
            <a:ext cx="6111408" cy="32619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808000"/>
            <a:ext cx="12192000" cy="50000"/>
          </a:xfrm>
          <a:prstGeom prst="rect">
            <a:avLst/>
          </a:prstGeom>
          <a:solidFill>
            <a:srgbClr val="5A7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50000"/>
          </a:xfrm>
          <a:prstGeom prst="rect">
            <a:avLst/>
          </a:prstGeom>
          <a:solidFill>
            <a:srgbClr val="5A7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AutoShape 2"/>
          <p:cNvSpPr/>
          <p:nvPr/>
        </p:nvSpPr>
        <p:spPr>
          <a:xfrm>
            <a:off x="500000" y="280000"/>
            <a:ext cx="11192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44E6E"/>
                </a:solidFill>
                <a:latin typeface="Microsoft YaHei"/>
                <a:ea typeface="Noto Sans SC"/>
                <a:cs typeface="Noto Sans SC"/>
                <a:sym typeface="Noto Sans SC"/>
              </a:rPr>
              <a:t>面向Agentic AI的开源项目案例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907" y="1104634"/>
            <a:ext cx="7248974" cy="4198732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2730500" y="6111631"/>
            <a:ext cx="77851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1F2329"/>
                </a:solidFill>
                <a:latin typeface="Microsoft YaHei"/>
                <a:ea typeface="Noto Sans SC"/>
                <a:cs typeface="Noto Sans SC"/>
                <a:sym typeface="Noto Sans SC"/>
              </a:rPr>
              <a:t>为了方便用户通过LLM</a:t>
            </a:r>
            <a:r>
              <a:rPr lang="en-US" sz="1600" b="0" i="0" u="none" strike="noStrike" dirty="0">
                <a:solidFill>
                  <a:srgbClr val="1F2329"/>
                </a:solidFill>
                <a:latin typeface="Microsoft YaHei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0" i="0" u="none" strike="noStrike" dirty="0" err="1">
                <a:solidFill>
                  <a:srgbClr val="1F2329"/>
                </a:solidFill>
                <a:latin typeface="Microsoft YaHei"/>
                <a:ea typeface="Noto Sans SC"/>
                <a:cs typeface="Noto Sans SC"/>
                <a:sym typeface="Noto Sans SC"/>
              </a:rPr>
              <a:t>Agent自动地使用飞书服务，飞书开发并开源了对应的CLI工具以及对应的skill</a:t>
            </a:r>
            <a:endParaRPr lang="en-US" sz="1100" dirty="0"/>
          </a:p>
        </p:txBody>
      </p:sp>
      <p:sp>
        <p:nvSpPr>
          <p:cNvPr id="8" name="TextBox 7"/>
          <p:cNvSpPr txBox="1"/>
          <p:nvPr/>
        </p:nvSpPr>
        <p:spPr>
          <a:xfrm>
            <a:off x="11092000" y="6358000"/>
            <a:ext cx="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E"/>
                </a:solidFill>
                <a:latin typeface="Microsoft YaHei"/>
              </a:rPr>
              <a:t>5/22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808000"/>
            <a:ext cx="12192000" cy="50000"/>
          </a:xfrm>
          <a:prstGeom prst="rect">
            <a:avLst/>
          </a:prstGeom>
          <a:solidFill>
            <a:srgbClr val="5A7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4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AutoShape 2"/>
          <p:cNvSpPr/>
          <p:nvPr/>
        </p:nvSpPr>
        <p:spPr>
          <a:xfrm>
            <a:off x="500000" y="280000"/>
            <a:ext cx="11192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44E6E"/>
                </a:solidFill>
                <a:latin typeface="Microsoft YaHei"/>
                <a:ea typeface="Noto Sans SC"/>
                <a:cs typeface="Noto Sans SC"/>
                <a:sym typeface="Noto Sans SC"/>
              </a:rPr>
              <a:t>面向Agentic AI的开源项目的特点</a:t>
            </a:r>
            <a:endParaRPr lang="en-US" sz="1100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534871"/>
              </p:ext>
            </p:extLst>
          </p:nvPr>
        </p:nvGraphicFramePr>
        <p:xfrm>
          <a:off x="1048130" y="1431430"/>
          <a:ext cx="9336841" cy="3995139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61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1216">
                  <a:extLst>
                    <a:ext uri="{9D8B030D-6E8A-4147-A177-3AD203B41FA5}">
                      <a16:colId xmlns:a16="http://schemas.microsoft.com/office/drawing/2014/main" val="1211507493"/>
                    </a:ext>
                  </a:extLst>
                </a:gridCol>
                <a:gridCol w="45741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716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开源代码</a:t>
                      </a:r>
                      <a:endParaRPr lang="en-US" sz="11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面向Agentic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AI的开源项目</a:t>
                      </a:r>
                      <a:endParaRPr lang="en-US" sz="11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3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包含的材料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主要是代码;自然语言描述的文档为附属材料，通常不会被使用；少量项目可能包括字体文件、ICON等素材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包括自然语言描述的指令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(Prompt)；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可能包括代码，也可能包括字体文件、ICON、图片、音视频素材等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47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项目的受众</a:t>
                      </a:r>
                      <a:endParaRPr lang="en-US" sz="14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通常是下游的开发者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终端用户，包括很多技术小白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项目属性</a:t>
                      </a:r>
                      <a:endParaRPr lang="en-US" sz="14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源码本身不是产品和服务，一般认为是产品供应链的一部分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项目的完整度较高，形态上更接近于终端产品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服务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远程服务</a:t>
                      </a:r>
                      <a:endParaRPr lang="en-US" sz="14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大部分开源项目本身不会调用远程API和MCP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除了所必须依赖的LLM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API之外，一些项目还会调用其他API、MCP等远程服务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092000" y="6358000"/>
            <a:ext cx="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E"/>
                </a:solidFill>
                <a:latin typeface="Microsoft YaHei"/>
              </a:rPr>
              <a:t>6/22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487680" y="4114800"/>
            <a:ext cx="2926080" cy="2926080"/>
          </a:xfrm>
          <a:prstGeom prst="ellipse">
            <a:avLst/>
          </a:prstGeom>
          <a:solidFill>
            <a:srgbClr val="4A6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49621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AutoShape 2"/>
          <p:cNvSpPr/>
          <p:nvPr/>
        </p:nvSpPr>
        <p:spPr>
          <a:xfrm>
            <a:off x="6827520" y="2880359"/>
            <a:ext cx="2232728" cy="7982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 dirty="0" err="1">
                <a:solidFill>
                  <a:srgbClr val="344E6E"/>
                </a:solidFill>
                <a:latin typeface="Microsoft YaHei"/>
                <a:ea typeface="Noto Sans SC"/>
                <a:cs typeface="Noto Sans SC"/>
                <a:sym typeface="Noto Sans SC"/>
              </a:rPr>
              <a:t>合规考量</a:t>
            </a:r>
            <a:endParaRPr lang="en-US"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11092000" y="6358000"/>
            <a:ext cx="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9BAC"/>
                </a:solidFill>
                <a:latin typeface="Microsoft YaHei"/>
              </a:rPr>
              <a:t>7/22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DEE874A-10BF-20A9-4491-FE05F8184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11" y="1768986"/>
            <a:ext cx="5538514" cy="30210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808000"/>
            <a:ext cx="12192000" cy="50000"/>
          </a:xfrm>
          <a:prstGeom prst="rect">
            <a:avLst/>
          </a:prstGeom>
          <a:solidFill>
            <a:srgbClr val="5A7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13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AutoShape 2"/>
          <p:cNvSpPr/>
          <p:nvPr/>
        </p:nvSpPr>
        <p:spPr>
          <a:xfrm>
            <a:off x="500000" y="280000"/>
            <a:ext cx="11192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 dirty="0" err="1">
                <a:solidFill>
                  <a:srgbClr val="344E6E"/>
                </a:solidFill>
                <a:latin typeface="Microsoft YaHei"/>
                <a:ea typeface="Noto Sans SC"/>
                <a:cs typeface="Noto Sans SC"/>
                <a:sym typeface="Noto Sans SC"/>
              </a:rPr>
              <a:t>开源过程中的合规目标</a:t>
            </a:r>
            <a:endParaRPr lang="en-US" sz="1100" dirty="0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233980"/>
              </p:ext>
            </p:extLst>
          </p:nvPr>
        </p:nvGraphicFramePr>
        <p:xfrm>
          <a:off x="1705379" y="1627678"/>
          <a:ext cx="7846888" cy="272070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923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713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避免知识产权的不当流失</a:t>
                      </a:r>
                      <a:endParaRPr lang="en-US" sz="11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避免因为开源给公司带来风险</a:t>
                      </a:r>
                      <a:endParaRPr lang="en-US" sz="11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357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开源的范围适当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；</a:t>
                      </a:r>
                      <a:endParaRPr lang="en-US" sz="1400" dirty="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选择合适的许可证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；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合理的知识产权保护</a:t>
                      </a:r>
                      <a:endParaRPr lang="en-US" sz="1400" b="0" i="0" u="none" strike="noStrike" dirty="0">
                        <a:solidFill>
                          <a:srgbClr val="1F2329"/>
                        </a:solidFill>
                        <a:latin typeface="Microsoft YaHei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避免侵权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；</a:t>
                      </a:r>
                      <a:endParaRPr lang="en-US" sz="1400" dirty="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避免舆情风险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；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避免违约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违反许可证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；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避免违反监管要求</a:t>
                      </a:r>
                      <a:endParaRPr lang="en-US" sz="1400" b="0" i="0" u="none" strike="noStrike" dirty="0">
                        <a:solidFill>
                          <a:srgbClr val="1F2329"/>
                        </a:solidFill>
                        <a:latin typeface="Microsoft YaHei"/>
                        <a:ea typeface="Noto Sans SC"/>
                        <a:cs typeface="Noto Sans SC"/>
                        <a:sym typeface="Noto Sans SC"/>
                      </a:endParaRPr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......</a:t>
                      </a:r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092000" y="6358000"/>
            <a:ext cx="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E"/>
                </a:solidFill>
                <a:latin typeface="Microsoft YaHei"/>
              </a:rPr>
              <a:t>8/22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6808000"/>
            <a:ext cx="12192000" cy="50000"/>
          </a:xfrm>
          <a:prstGeom prst="rect">
            <a:avLst/>
          </a:prstGeom>
          <a:solidFill>
            <a:srgbClr val="5A7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AutoShape 2"/>
          <p:cNvSpPr/>
          <p:nvPr/>
        </p:nvSpPr>
        <p:spPr>
          <a:xfrm>
            <a:off x="500000" y="280000"/>
            <a:ext cx="11192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44E6E"/>
                </a:solidFill>
                <a:latin typeface="Microsoft YaHei"/>
                <a:ea typeface="Noto Sans SC"/>
                <a:cs typeface="Noto Sans SC"/>
                <a:sym typeface="Noto Sans SC"/>
              </a:rPr>
              <a:t>免责条款的效力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 rot="-2403753">
            <a:off x="4321904" y="1784695"/>
            <a:ext cx="558800" cy="2286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4468423" y="2716999"/>
            <a:ext cx="542454" cy="2286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4368027" y="3522037"/>
            <a:ext cx="546100" cy="2286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6" name="TextBox 15"/>
          <p:cNvSpPr txBox="1"/>
          <p:nvPr/>
        </p:nvSpPr>
        <p:spPr>
          <a:xfrm>
            <a:off x="11092000" y="6358000"/>
            <a:ext cx="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E"/>
                </a:solidFill>
                <a:latin typeface="Microsoft YaHei"/>
              </a:rPr>
              <a:t>9/22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643A539-9FF7-1A6F-B25C-B87BEFF3E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062" y="1641900"/>
            <a:ext cx="7772400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808000"/>
            <a:ext cx="12192000" cy="50000"/>
          </a:xfrm>
          <a:prstGeom prst="rect">
            <a:avLst/>
          </a:prstGeom>
          <a:solidFill>
            <a:srgbClr val="5A7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0000"/>
          </a:xfrm>
          <a:prstGeom prst="rect">
            <a:avLst/>
          </a:prstGeom>
          <a:solidFill>
            <a:srgbClr val="5A7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8000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AutoShape 2"/>
          <p:cNvSpPr/>
          <p:nvPr/>
        </p:nvSpPr>
        <p:spPr>
          <a:xfrm>
            <a:off x="500000" y="280000"/>
            <a:ext cx="11192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44E6E"/>
                </a:solidFill>
                <a:latin typeface="Microsoft YaHei"/>
                <a:ea typeface="Noto Sans SC"/>
                <a:cs typeface="Noto Sans SC"/>
                <a:sym typeface="Noto Sans SC"/>
              </a:rPr>
              <a:t>合规要求-知识产权与不正当竞争</a:t>
            </a:r>
            <a:endParaRPr lang="en-US" sz="1100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441865"/>
              </p:ext>
            </p:extLst>
          </p:nvPr>
        </p:nvGraphicFramePr>
        <p:xfrm>
          <a:off x="790500" y="991354"/>
          <a:ext cx="9550929" cy="55499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056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4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合规项</a:t>
                      </a:r>
                      <a:endParaRPr lang="en-US" sz="11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合规要求/标准</a:t>
                      </a:r>
                      <a:endParaRPr lang="en-US" sz="11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33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代码许可证合规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如果项目中包含代码（比如脚本），则需要检查代码以及其所引用依赖的许可证，遵循许可要求</a:t>
                      </a:r>
                      <a:endParaRPr lang="en-US" sz="14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内置素材的合规检查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受版权保护的第三方素材（字体文件、图片、视频、音频、文档、知识库等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），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针对各素材是否有对应许可证，或者权利声明；不得侵犯第三方的商标权利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Prompt本身的许可证合规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如果自然语言指令是基于三方skill等项目得到，则需要同时遵守skill的许可证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7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Prompt的诱导侵权排查</a:t>
                      </a:r>
                      <a:endParaRPr lang="en-US" sz="14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排查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 Skill 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的系统提示词（System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 Prompt）或预置指令中，是否存在引导大模型复刻、抄袭或模仿第三方受版权保护内容或生成社交媒体网站风格的内容（比如小红书风格内容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092000" y="6358000"/>
            <a:ext cx="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E"/>
                </a:solidFill>
                <a:latin typeface="Microsoft YaHei"/>
              </a:rPr>
              <a:t>10/22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808000"/>
            <a:ext cx="12192000" cy="50000"/>
          </a:xfrm>
          <a:prstGeom prst="rect">
            <a:avLst/>
          </a:prstGeom>
          <a:solidFill>
            <a:srgbClr val="5A7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0000"/>
          </a:xfrm>
          <a:prstGeom prst="rect">
            <a:avLst/>
          </a:prstGeom>
          <a:solidFill>
            <a:srgbClr val="5A7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886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AutoShape 2"/>
          <p:cNvSpPr/>
          <p:nvPr/>
        </p:nvSpPr>
        <p:spPr>
          <a:xfrm>
            <a:off x="500000" y="280000"/>
            <a:ext cx="11192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44E6E"/>
                </a:solidFill>
                <a:latin typeface="Microsoft YaHei"/>
                <a:ea typeface="Noto Sans SC"/>
                <a:cs typeface="Noto Sans SC"/>
                <a:sym typeface="Noto Sans SC"/>
              </a:rPr>
              <a:t>合规要求-知识产权与不正当竞争</a:t>
            </a:r>
            <a:endParaRPr lang="en-US" sz="1100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286778"/>
              </p:ext>
            </p:extLst>
          </p:nvPr>
        </p:nvGraphicFramePr>
        <p:xfrm>
          <a:off x="508397" y="1366819"/>
          <a:ext cx="9822146" cy="358621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58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3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合规项</a:t>
                      </a:r>
                      <a:endParaRPr lang="en-US" sz="11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要求</a:t>
                      </a:r>
                      <a:endParaRPr lang="en-US" sz="11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815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联网抓取能力合规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03200" indent="-203200" algn="l">
                        <a:lnSpc>
                          <a:spcPct val="100000"/>
                        </a:lnSpc>
                        <a:buClr>
                          <a:srgbClr val="1F2329"/>
                        </a:buClr>
                        <a:buFont typeface="+mj-lt"/>
                        <a:buAutoNum type="arabicPeriod"/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明确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 Skill 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是否具备主动联网搜索及抓取内容的能力，以及抓取的内容类型（文字、图片、视频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）；</a:t>
                      </a:r>
                      <a:endParaRPr lang="en-US" sz="1400" dirty="0"/>
                    </a:p>
                    <a:p>
                      <a:pPr marL="203200" indent="-203200" algn="l">
                        <a:lnSpc>
                          <a:spcPct val="100000"/>
                        </a:lnSpc>
                        <a:buClr>
                          <a:srgbClr val="1F2329"/>
                        </a:buClr>
                        <a:buFont typeface="+mj-lt"/>
                        <a:buAutoNum type="arabicPeriod"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抓取行为必须遵守目标网站的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robots.txt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协议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；</a:t>
                      </a:r>
                    </a:p>
                    <a:p>
                      <a:pPr marL="203200" indent="-203200" algn="l">
                        <a:lnSpc>
                          <a:spcPct val="100000"/>
                        </a:lnSpc>
                        <a:buClr>
                          <a:srgbClr val="1F2329"/>
                        </a:buClr>
                        <a:buFont typeface="+mj-lt"/>
                        <a:buAutoNum type="arabicPeriod"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严禁利用技术手段绕过或破坏目标网站和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或谷歌等搜索引擎的技术保护措施（如绕过登录鉴权、抓取付费内容等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）。</a:t>
                      </a:r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815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许可证选择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1.选择的许可证应与其开源目的匹配；</a:t>
                      </a:r>
                      <a:endParaRPr lang="en-US" sz="1400" dirty="0"/>
                    </a:p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2.许可证的类型与所开源的材料类型匹配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3.不应该出现许可证兼容性冲突；</a:t>
                      </a:r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092000" y="6358000"/>
            <a:ext cx="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E"/>
                </a:solidFill>
                <a:latin typeface="Microsoft YaHei"/>
              </a:rPr>
              <a:t>11/22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808000"/>
            <a:ext cx="12192000" cy="50000"/>
          </a:xfrm>
          <a:prstGeom prst="rect">
            <a:avLst/>
          </a:prstGeom>
          <a:solidFill>
            <a:srgbClr val="5A7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0000"/>
          </a:xfrm>
          <a:prstGeom prst="rect">
            <a:avLst/>
          </a:prstGeom>
          <a:solidFill>
            <a:srgbClr val="5A7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AutoShape 2"/>
          <p:cNvSpPr/>
          <p:nvPr/>
        </p:nvSpPr>
        <p:spPr>
          <a:xfrm>
            <a:off x="500000" y="280000"/>
            <a:ext cx="11192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44E6E"/>
                </a:solidFill>
                <a:latin typeface="Microsoft YaHei"/>
                <a:ea typeface="Noto Sans SC"/>
                <a:cs typeface="Noto Sans SC"/>
                <a:sym typeface="Noto Sans SC"/>
              </a:rPr>
              <a:t>合规要求-数据安全与隐私</a:t>
            </a:r>
            <a:endParaRPr lang="en-US" sz="1100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966783"/>
              </p:ext>
            </p:extLst>
          </p:nvPr>
        </p:nvGraphicFramePr>
        <p:xfrm>
          <a:off x="850900" y="1339425"/>
          <a:ext cx="8864136" cy="4521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801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2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项目</a:t>
                      </a:r>
                      <a:endParaRPr lang="en-US" sz="11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合规要求/标准</a:t>
                      </a:r>
                      <a:endParaRPr lang="en-US" sz="11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数据外传管控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1. Skill 不得将用户输入、文档内容或处理中间结果发送到非必要的外部服务（含第三方分析/监控平台）；2. 如需外传数据，须在文档中明确说明并获得用户知情同意</a:t>
                      </a:r>
                      <a:endParaRPr lang="en-US" sz="14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数据脱敏处理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1. 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处理涉及用户信息（姓名、邮箱、工号等）的数据时，日志、缓存或返回结果中须做脱敏处理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临时数据安全存储</a:t>
                      </a:r>
                      <a:endParaRPr lang="en-US" sz="14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1. 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敏感中间数据写入临时目录时须设置合适文件权限，并在处理完成后及时清理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后台静默行为监控</a:t>
                      </a:r>
                      <a:endParaRPr lang="en-US" sz="14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1.非用户调用情况下，Skill不得后台静默处理用户数据，例如静默读取用户浏览器密码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数据处理合规</a:t>
                      </a:r>
                      <a:endParaRPr lang="en-US" sz="14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1. Skill 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实际访问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处理的数据处理活动与其声明的数据处理活动一致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092000" y="6358000"/>
            <a:ext cx="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E"/>
                </a:solidFill>
                <a:latin typeface="Microsoft YaHei"/>
              </a:rPr>
              <a:t>12/22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808000"/>
            <a:ext cx="12192000" cy="50000"/>
          </a:xfrm>
          <a:prstGeom prst="rect">
            <a:avLst/>
          </a:prstGeom>
          <a:solidFill>
            <a:srgbClr val="5A7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0000"/>
          </a:xfrm>
          <a:prstGeom prst="rect">
            <a:avLst/>
          </a:prstGeom>
          <a:solidFill>
            <a:srgbClr val="5A7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AutoShape 2"/>
          <p:cNvSpPr/>
          <p:nvPr/>
        </p:nvSpPr>
        <p:spPr>
          <a:xfrm>
            <a:off x="500000" y="280000"/>
            <a:ext cx="11192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44E6E"/>
                </a:solidFill>
                <a:latin typeface="Microsoft YaHei"/>
                <a:ea typeface="Noto Sans SC"/>
                <a:cs typeface="Noto Sans SC"/>
                <a:sym typeface="Noto Sans SC"/>
              </a:rPr>
              <a:t>合规要求-敏感信息</a:t>
            </a:r>
            <a:endParaRPr lang="en-US" sz="1100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874755"/>
              </p:ext>
            </p:extLst>
          </p:nvPr>
        </p:nvGraphicFramePr>
        <p:xfrm>
          <a:off x="698500" y="1645195"/>
          <a:ext cx="9142186" cy="406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780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项目</a:t>
                      </a:r>
                      <a:endParaRPr lang="en-US" sz="11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合规要求/标准</a:t>
                      </a:r>
                      <a:endParaRPr lang="en-US" sz="11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硬编码凭证检测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1. 代码或配置文件中不得包含明文的 API Key、Access Token、数据库密码、Webhook URL 等敏感凭证</a:t>
                      </a:r>
                      <a:endParaRPr lang="en-US" sz="14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内部域名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端点暴露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1. Skill 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代码或描述中不得硬编码内部服务域名、内网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IP、内部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 API 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路径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调试信息残留</a:t>
                      </a:r>
                      <a:endParaRPr lang="en-US" sz="14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1. 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不得在生产代码中保留输出敏感上下文的日志语句（如完整请求头、认证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Token、用户输入原文）而无条件门控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敏感文件打包</a:t>
                      </a:r>
                      <a:endParaRPr lang="en-US" sz="14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1. Skill 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分发包内不得包含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 .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env、.git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/config、id_rsa、kubeconfig、credentials.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json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、.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npmrc（含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token）等敏感文件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092000" y="6358000"/>
            <a:ext cx="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E"/>
                </a:solidFill>
                <a:latin typeface="Microsoft YaHei"/>
              </a:rPr>
              <a:t>13/22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808000"/>
            <a:ext cx="12192000" cy="50000"/>
          </a:xfrm>
          <a:prstGeom prst="rect">
            <a:avLst/>
          </a:prstGeom>
          <a:solidFill>
            <a:srgbClr val="5A7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0000"/>
          </a:xfrm>
          <a:prstGeom prst="rect">
            <a:avLst/>
          </a:prstGeom>
          <a:solidFill>
            <a:srgbClr val="5A7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AutoShape 2"/>
          <p:cNvSpPr/>
          <p:nvPr/>
        </p:nvSpPr>
        <p:spPr>
          <a:xfrm>
            <a:off x="500000" y="280000"/>
            <a:ext cx="11192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44E6E"/>
                </a:solidFill>
                <a:latin typeface="Microsoft YaHei"/>
                <a:ea typeface="Noto Sans SC"/>
                <a:cs typeface="Noto Sans SC"/>
                <a:sym typeface="Noto Sans SC"/>
              </a:rPr>
              <a:t>合规要求-技术安全</a:t>
            </a:r>
            <a:endParaRPr lang="en-US" sz="1100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814057"/>
              </p:ext>
            </p:extLst>
          </p:nvPr>
        </p:nvGraphicFramePr>
        <p:xfrm>
          <a:off x="709260" y="1126964"/>
          <a:ext cx="9392684" cy="406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390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2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项目</a:t>
                      </a:r>
                      <a:endParaRPr lang="en-US" sz="11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合规要求/标准</a:t>
                      </a:r>
                      <a:endParaRPr lang="en-US" sz="11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权限与访问控制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Skill 只能拥有和使用完成其功能所必须的最小权限，不得通过系统调用执行未校验的外部输入，不得访问功能范围外的敏感目录，文件操作路径须防止穿越。</a:t>
                      </a:r>
                      <a:endParaRPr lang="en-US" sz="14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代码安全质量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Skill 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代码须防范常见安全漏洞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——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外部输入不得直接拼接到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 SQL/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命令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/URL 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中，不得用不安全方式处理不可信数据（如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eval、pickle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），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异常不能暴露堆栈，加密须用安全算法，网络通信须走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 HTTPS 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且不禁用证书验证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依赖与供应链安全</a:t>
                      </a:r>
                      <a:endParaRPr lang="en-US" sz="14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Skill 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引入的第三方依赖不得含高危已知漏洞，版本须锁定（不用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 *、latest），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依赖数量须与功能匹配不过度引入，且不得使用超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长期未更新或已废弃的库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。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提示词安全</a:t>
                      </a:r>
                      <a:endParaRPr lang="en-US" sz="14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Skill 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的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 Prompt 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不得包含诱导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 Agent 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越权操作、泄露数据或绕过安全策略的指令，也不得通过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 Prompt 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让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 Agent </a:t>
                      </a: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改变默认安全行为（如跳过确认、隐瞒操作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）。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092000" y="6358000"/>
            <a:ext cx="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E"/>
                </a:solidFill>
                <a:latin typeface="Microsoft YaHei"/>
              </a:rPr>
              <a:t>14/22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808000"/>
            <a:ext cx="12192000" cy="50000"/>
          </a:xfrm>
          <a:prstGeom prst="rect">
            <a:avLst/>
          </a:prstGeom>
          <a:solidFill>
            <a:srgbClr val="5A7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0000"/>
          </a:xfrm>
          <a:prstGeom prst="rect">
            <a:avLst/>
          </a:prstGeom>
          <a:solidFill>
            <a:srgbClr val="5A7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AutoShape 2"/>
          <p:cNvSpPr/>
          <p:nvPr/>
        </p:nvSpPr>
        <p:spPr>
          <a:xfrm>
            <a:off x="500000" y="280000"/>
            <a:ext cx="11192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 dirty="0" err="1">
                <a:solidFill>
                  <a:srgbClr val="344E6E"/>
                </a:solidFill>
                <a:latin typeface="Microsoft YaHei"/>
                <a:ea typeface="Noto Sans SC"/>
                <a:cs typeface="Noto Sans SC"/>
                <a:sym typeface="Noto Sans SC"/>
              </a:rPr>
              <a:t>合规要求-</a:t>
            </a:r>
            <a:r>
              <a:rPr lang="en-US" sz="2200" b="1" dirty="0" err="1">
                <a:solidFill>
                  <a:srgbClr val="344E6E"/>
                </a:solidFill>
                <a:latin typeface="Microsoft YaHei"/>
                <a:ea typeface="Noto Sans SC"/>
                <a:cs typeface="Noto Sans SC"/>
                <a:sym typeface="Noto Sans SC"/>
              </a:rPr>
              <a:t>内容</a:t>
            </a:r>
            <a:r>
              <a:rPr lang="en-US" sz="2200" b="1" i="0" u="none" strike="noStrike" dirty="0" err="1">
                <a:solidFill>
                  <a:srgbClr val="344E6E"/>
                </a:solidFill>
                <a:latin typeface="Microsoft YaHei"/>
                <a:ea typeface="Noto Sans SC"/>
                <a:cs typeface="Noto Sans SC"/>
                <a:sym typeface="Noto Sans SC"/>
              </a:rPr>
              <a:t>合规</a:t>
            </a:r>
            <a:endParaRPr lang="en-US" sz="1100" dirty="0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634714"/>
              </p:ext>
            </p:extLst>
          </p:nvPr>
        </p:nvGraphicFramePr>
        <p:xfrm>
          <a:off x="950048" y="2021717"/>
          <a:ext cx="9119238" cy="1676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191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7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项目</a:t>
                      </a:r>
                      <a:endParaRPr lang="en-US" sz="11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合规要求/标准</a:t>
                      </a:r>
                      <a:endParaRPr lang="en-US" sz="110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内容合规</a:t>
                      </a:r>
                      <a:endParaRPr lang="en-US" sz="1400" dirty="0"/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不得包括色情、血腥、歧视等违禁词汇或者描述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；</a:t>
                      </a:r>
                      <a:endParaRPr lang="en-US" sz="1400" dirty="0"/>
                    </a:p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 err="1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不应包含用户的个人信息，比如昵称、邮箱地址、电话、肖像等</a:t>
                      </a:r>
                      <a:r>
                        <a:rPr lang="en-US" sz="1400" b="0" i="0" u="none" strike="noStrike" dirty="0">
                          <a:solidFill>
                            <a:srgbClr val="1F2329"/>
                          </a:solidFill>
                          <a:latin typeface="Microsoft YaHei"/>
                          <a:ea typeface="Noto Sans SC"/>
                          <a:cs typeface="Noto Sans SC"/>
                          <a:sym typeface="Noto Sans SC"/>
                        </a:rPr>
                        <a:t>；</a:t>
                      </a:r>
                    </a:p>
                  </a:txBody>
                  <a:tcPr marL="101600" marR="0" marT="101600" marB="101600" anchor="ctr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092000" y="6358000"/>
            <a:ext cx="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E"/>
                </a:solidFill>
                <a:latin typeface="Microsoft YaHei"/>
              </a:rPr>
              <a:t>15/22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487680" y="4114800"/>
            <a:ext cx="2926080" cy="2926080"/>
          </a:xfrm>
          <a:prstGeom prst="ellipse">
            <a:avLst/>
          </a:prstGeom>
          <a:solidFill>
            <a:srgbClr val="4A6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876800" y="0"/>
            <a:ext cx="45000" cy="6858000"/>
          </a:xfrm>
          <a:prstGeom prst="rect">
            <a:avLst/>
          </a:prstGeom>
          <a:solidFill>
            <a:srgbClr val="6B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AutoShape 2"/>
          <p:cNvSpPr/>
          <p:nvPr/>
        </p:nvSpPr>
        <p:spPr>
          <a:xfrm>
            <a:off x="6027420" y="2194560"/>
            <a:ext cx="6096000" cy="2468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 dirty="0" err="1">
                <a:solidFill>
                  <a:srgbClr val="344E6E"/>
                </a:solidFill>
                <a:latin typeface="Microsoft YaHei"/>
                <a:ea typeface="Noto Sans SC"/>
                <a:cs typeface="Noto Sans SC"/>
                <a:sym typeface="Noto Sans SC"/>
              </a:rPr>
              <a:t>合规实践探索</a:t>
            </a:r>
            <a:endParaRPr lang="en-US"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11092000" y="6358000"/>
            <a:ext cx="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9BAC"/>
                </a:solidFill>
                <a:latin typeface="Microsoft YaHei"/>
              </a:rPr>
              <a:t>16/22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9DDBFC9-E5DF-32A3-1EF6-67AFFA237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492135"/>
            <a:ext cx="4808220" cy="26226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808000"/>
            <a:ext cx="12192000" cy="50000"/>
          </a:xfrm>
          <a:prstGeom prst="rect">
            <a:avLst/>
          </a:prstGeom>
          <a:solidFill>
            <a:srgbClr val="5A7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50000"/>
          </a:xfrm>
          <a:prstGeom prst="rect">
            <a:avLst/>
          </a:prstGeom>
          <a:solidFill>
            <a:srgbClr val="5A7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AutoShape 2"/>
          <p:cNvSpPr/>
          <p:nvPr/>
        </p:nvSpPr>
        <p:spPr>
          <a:xfrm>
            <a:off x="500000" y="280000"/>
            <a:ext cx="11192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44E6E"/>
                </a:solidFill>
                <a:latin typeface="Microsoft YaHei"/>
                <a:ea typeface="Noto Sans SC"/>
                <a:cs typeface="Noto Sans SC"/>
                <a:sym typeface="Noto Sans SC"/>
              </a:rPr>
              <a:t>自查清单</a:t>
            </a:r>
            <a:endParaRPr lang="en-US" sz="110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75715B-5301-C2C1-6C7F-2B76A1445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285" y="1354485"/>
            <a:ext cx="7772400" cy="39748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92000" y="6358000"/>
            <a:ext cx="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E"/>
                </a:solidFill>
                <a:latin typeface="Microsoft YaHei"/>
              </a:rPr>
              <a:t>17/22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808000"/>
            <a:ext cx="12192000" cy="50000"/>
          </a:xfrm>
          <a:prstGeom prst="rect">
            <a:avLst/>
          </a:prstGeom>
          <a:solidFill>
            <a:srgbClr val="5A7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0000"/>
          </a:xfrm>
          <a:prstGeom prst="rect">
            <a:avLst/>
          </a:prstGeom>
          <a:solidFill>
            <a:srgbClr val="5A7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8000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64" y="1640237"/>
            <a:ext cx="10947072" cy="290699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500000" y="280000"/>
            <a:ext cx="11192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44E6E"/>
                </a:solidFill>
                <a:latin typeface="Microsoft YaHei"/>
                <a:ea typeface="Noto Sans SC"/>
                <a:cs typeface="Noto Sans SC"/>
                <a:sym typeface="Noto Sans SC"/>
              </a:rPr>
              <a:t>审计工具</a:t>
            </a:r>
            <a:endParaRPr lang="en-US" sz="1100"/>
          </a:p>
        </p:txBody>
      </p:sp>
      <p:sp>
        <p:nvSpPr>
          <p:cNvPr id="7" name="TextBox 6"/>
          <p:cNvSpPr txBox="1"/>
          <p:nvPr/>
        </p:nvSpPr>
        <p:spPr>
          <a:xfrm>
            <a:off x="11092000" y="6358000"/>
            <a:ext cx="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E"/>
                </a:solidFill>
                <a:latin typeface="Microsoft YaHei"/>
              </a:rPr>
              <a:t>18/22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487680" y="4114800"/>
            <a:ext cx="2926080" cy="2926080"/>
          </a:xfrm>
          <a:prstGeom prst="ellipse">
            <a:avLst/>
          </a:prstGeom>
          <a:solidFill>
            <a:srgbClr val="4A6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152289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AutoShape 2"/>
          <p:cNvSpPr/>
          <p:nvPr/>
        </p:nvSpPr>
        <p:spPr>
          <a:xfrm>
            <a:off x="6705600" y="2688546"/>
            <a:ext cx="6096000" cy="2468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 dirty="0" err="1">
                <a:solidFill>
                  <a:srgbClr val="344E6E"/>
                </a:solidFill>
                <a:latin typeface="Microsoft YaHei"/>
                <a:ea typeface="Noto Sans SC"/>
                <a:cs typeface="Noto Sans SC"/>
                <a:sym typeface="Noto Sans SC"/>
              </a:rPr>
              <a:t>行动建议</a:t>
            </a:r>
            <a:endParaRPr lang="en-US"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11092000" y="6358000"/>
            <a:ext cx="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9BAC"/>
                </a:solidFill>
                <a:latin typeface="Microsoft YaHei"/>
              </a:rPr>
              <a:t>19/22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04FB94F-A762-FE65-1488-C6BAAD75D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41" y="1745076"/>
            <a:ext cx="5634859" cy="307355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808000"/>
            <a:ext cx="12192000" cy="50000"/>
          </a:xfrm>
          <a:prstGeom prst="rect">
            <a:avLst/>
          </a:prstGeom>
          <a:solidFill>
            <a:srgbClr val="5A7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713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AutoShape 2"/>
          <p:cNvSpPr/>
          <p:nvPr/>
        </p:nvSpPr>
        <p:spPr>
          <a:xfrm>
            <a:off x="500000" y="280000"/>
            <a:ext cx="11192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44E6E"/>
                </a:solidFill>
                <a:latin typeface="Microsoft YaHei"/>
                <a:ea typeface="Noto Sans SC"/>
                <a:cs typeface="Noto Sans SC"/>
                <a:sym typeface="Noto Sans SC"/>
              </a:rPr>
              <a:t>合规标准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645011" y="2404600"/>
            <a:ext cx="2727183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1F2329"/>
                </a:solidFill>
                <a:latin typeface="Microsoft YaHei"/>
                <a:ea typeface="Noto Sans SC"/>
                <a:cs typeface="Noto Sans SC"/>
                <a:sym typeface="Noto Sans SC"/>
              </a:rPr>
              <a:t>针对Skill这类面向Agentic</a:t>
            </a:r>
            <a:r>
              <a:rPr lang="zh-CN" altLang="en-US" sz="1600" b="0" i="0" u="none" strike="noStrike" dirty="0">
                <a:solidFill>
                  <a:srgbClr val="1F2329"/>
                </a:solidFill>
                <a:latin typeface="Microsoft YaHei"/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CN" sz="1600" b="0" i="0" u="none" strike="noStrike" dirty="0" err="1">
                <a:solidFill>
                  <a:srgbClr val="1F2329"/>
                </a:solidFill>
                <a:latin typeface="Microsoft YaHei"/>
                <a:ea typeface="Noto Sans SC"/>
                <a:cs typeface="Noto Sans SC"/>
                <a:sym typeface="Noto Sans SC"/>
              </a:rPr>
              <a:t>AI</a:t>
            </a:r>
            <a:r>
              <a:rPr lang="en-US" sz="1600" b="0" i="0" u="none" strike="noStrike" dirty="0" err="1">
                <a:solidFill>
                  <a:srgbClr val="1F2329"/>
                </a:solidFill>
                <a:latin typeface="Microsoft YaHei"/>
                <a:ea typeface="Noto Sans SC"/>
                <a:cs typeface="Noto Sans SC"/>
                <a:sym typeface="Noto Sans SC"/>
              </a:rPr>
              <a:t>的开源项目形成新的合规标准，或者迭代OpenChain以覆盖Skill类软件</a:t>
            </a:r>
            <a:endParaRPr lang="en-US" sz="1100" dirty="0"/>
          </a:p>
        </p:txBody>
      </p:sp>
      <p:sp>
        <p:nvSpPr>
          <p:cNvPr id="8" name="TextBox 7"/>
          <p:cNvSpPr txBox="1"/>
          <p:nvPr/>
        </p:nvSpPr>
        <p:spPr>
          <a:xfrm>
            <a:off x="11092000" y="6358000"/>
            <a:ext cx="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E"/>
                </a:solidFill>
                <a:latin typeface="Microsoft YaHei"/>
              </a:rPr>
              <a:t>20/22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63FE4C5-A3B5-3002-6457-657659EB4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" y="1309255"/>
            <a:ext cx="7772400" cy="42394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808000"/>
            <a:ext cx="12192000" cy="50000"/>
          </a:xfrm>
          <a:prstGeom prst="rect">
            <a:avLst/>
          </a:prstGeom>
          <a:solidFill>
            <a:srgbClr val="5A7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50000"/>
          </a:xfrm>
          <a:prstGeom prst="rect">
            <a:avLst/>
          </a:prstGeom>
          <a:solidFill>
            <a:srgbClr val="5A7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AutoShape 2"/>
          <p:cNvSpPr/>
          <p:nvPr/>
        </p:nvSpPr>
        <p:spPr>
          <a:xfrm>
            <a:off x="500000" y="280000"/>
            <a:ext cx="11192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44E6E"/>
                </a:solidFill>
                <a:latin typeface="Microsoft YaHei"/>
                <a:ea typeface="Noto Sans SC"/>
                <a:cs typeface="Noto Sans SC"/>
                <a:sym typeface="Noto Sans SC"/>
              </a:rPr>
              <a:t>工具建设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109387" y="2899200"/>
            <a:ext cx="2726779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1F2329"/>
                </a:solidFill>
                <a:latin typeface="Microsoft YaHei"/>
                <a:ea typeface="Noto Sans SC"/>
                <a:cs typeface="Noto Sans SC"/>
                <a:sym typeface="Noto Sans SC"/>
              </a:rPr>
              <a:t>建设针对自然语言指令以及版权素材的扫描能力和检测能力</a:t>
            </a:r>
            <a:endParaRPr lang="en-US" sz="1100" dirty="0"/>
          </a:p>
        </p:txBody>
      </p:sp>
      <p:sp>
        <p:nvSpPr>
          <p:cNvPr id="8" name="TextBox 7"/>
          <p:cNvSpPr txBox="1"/>
          <p:nvPr/>
        </p:nvSpPr>
        <p:spPr>
          <a:xfrm>
            <a:off x="11092000" y="6358000"/>
            <a:ext cx="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E"/>
                </a:solidFill>
                <a:latin typeface="Microsoft YaHei"/>
              </a:rPr>
              <a:t>21/22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719DA33-6A58-91A8-2848-077D9CD2B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807" y="1445488"/>
            <a:ext cx="5943162" cy="324172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487680" y="4114800"/>
            <a:ext cx="2926080" cy="2926080"/>
          </a:xfrm>
          <a:prstGeom prst="ellipse">
            <a:avLst/>
          </a:prstGeom>
          <a:solidFill>
            <a:srgbClr val="4A6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876800" y="0"/>
            <a:ext cx="45000" cy="6858000"/>
          </a:xfrm>
          <a:prstGeom prst="rect">
            <a:avLst/>
          </a:prstGeom>
          <a:solidFill>
            <a:srgbClr val="6B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92000" y="6358000"/>
            <a:ext cx="8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9BAC"/>
                </a:solidFill>
                <a:latin typeface="Microsoft YaHei"/>
              </a:rPr>
              <a:t>22/22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1F24F16-E422-1EB3-6F91-4280CA352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9669" cy="6858000"/>
          </a:xfrm>
          <a:prstGeom prst="rect">
            <a:avLst/>
          </a:prstGeom>
        </p:spPr>
      </p:pic>
      <p:sp>
        <p:nvSpPr>
          <p:cNvPr id="9" name="AutoShape 2">
            <a:extLst>
              <a:ext uri="{FF2B5EF4-FFF2-40B4-BE49-F238E27FC236}">
                <a16:creationId xmlns:a16="http://schemas.microsoft.com/office/drawing/2014/main" id="{CFCD6D20-B162-CD4F-6668-FA7680A6F543}"/>
              </a:ext>
            </a:extLst>
          </p:cNvPr>
          <p:cNvSpPr/>
          <p:nvPr/>
        </p:nvSpPr>
        <p:spPr>
          <a:xfrm>
            <a:off x="4464914" y="2596581"/>
            <a:ext cx="6096000" cy="2468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 dirty="0">
                <a:solidFill>
                  <a:schemeClr val="bg1"/>
                </a:solidFill>
                <a:latin typeface="Microsoft YaHei"/>
                <a:ea typeface="Noto Sans SC"/>
                <a:cs typeface="Noto Sans SC"/>
                <a:sym typeface="Noto Sans SC"/>
              </a:rPr>
              <a:t>THANKS!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1050</TotalTime>
  <Words>586</Words>
  <Application>Microsoft Macintosh PowerPoint</Application>
  <PresentationFormat>宽屏</PresentationFormat>
  <Paragraphs>174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27" baseType="lpstr">
      <vt:lpstr>Microsoft YaHei</vt:lpstr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zh</cp:lastModifiedBy>
  <cp:revision>9</cp:revision>
  <dcterms:modified xsi:type="dcterms:W3CDTF">2026-05-29T01:50:50Z</dcterms:modified>
</cp:coreProperties>
</file>