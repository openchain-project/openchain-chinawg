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LNX0c32Le+Y+gQp8Tii6WtveR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customschemas.google.com/relationships/presentationmetadata" Target="metadata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033dc0c4_0_28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6033dc0c4_0_28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6033dc0c4_0_28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218efffc9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e218efffc9_0_1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93d59d6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f693d59d6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93d59d67_0_10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693d59d67_0_10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693d59d67_0_10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aecb5a55d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daecb5a55d_0_8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033dc0c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f6033dc0c4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447800" y="3419475"/>
            <a:ext cx="9144000" cy="1247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447800" y="4667250"/>
            <a:ext cx="9144000" cy="428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4C2"/>
              </a:buClr>
              <a:buSzPts val="2400"/>
              <a:buNone/>
              <a:defRPr sz="2400">
                <a:solidFill>
                  <a:srgbClr val="00B4C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1" type="ftr"/>
          </p:nvPr>
        </p:nvSpPr>
        <p:spPr>
          <a:xfrm>
            <a:off x="4038600" y="61563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2509" y="1031320"/>
            <a:ext cx="4110417" cy="227986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5"/>
          <p:cNvSpPr/>
          <p:nvPr/>
        </p:nvSpPr>
        <p:spPr>
          <a:xfrm>
            <a:off x="1" y="6738028"/>
            <a:ext cx="4029074" cy="119972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"/>
          <p:cNvSpPr/>
          <p:nvPr/>
        </p:nvSpPr>
        <p:spPr>
          <a:xfrm>
            <a:off x="4081463" y="6738028"/>
            <a:ext cx="4029074" cy="119972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8162926" y="6738028"/>
            <a:ext cx="4029074" cy="119972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5"/>
          <p:cNvSpPr txBox="1"/>
          <p:nvPr/>
        </p:nvSpPr>
        <p:spPr>
          <a:xfrm>
            <a:off x="1447800" y="5131138"/>
            <a:ext cx="9144000" cy="428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[ Location ], [Date]</a:t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Title and Content (g3daecb5a55d_11_0)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218efffc9_0_2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e218efffc9_0_230"/>
          <p:cNvSpPr txBox="1"/>
          <p:nvPr>
            <p:ph idx="1" type="body"/>
          </p:nvPr>
        </p:nvSpPr>
        <p:spPr>
          <a:xfrm>
            <a:off x="838200" y="1825625"/>
            <a:ext cx="105156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g3e218efffc9_0_230"/>
          <p:cNvSpPr txBox="1"/>
          <p:nvPr>
            <p:ph idx="10" type="dt"/>
          </p:nvPr>
        </p:nvSpPr>
        <p:spPr>
          <a:xfrm>
            <a:off x="8743949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e218efffc9_0_230"/>
          <p:cNvSpPr txBox="1"/>
          <p:nvPr>
            <p:ph idx="11" type="ftr"/>
          </p:nvPr>
        </p:nvSpPr>
        <p:spPr>
          <a:xfrm>
            <a:off x="4038600" y="623728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e218efffc9_0_230"/>
          <p:cNvSpPr txBox="1"/>
          <p:nvPr>
            <p:ph idx="12" type="sldNum"/>
          </p:nvPr>
        </p:nvSpPr>
        <p:spPr>
          <a:xfrm>
            <a:off x="10048875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2">
  <p:cSld name="Title and Content (g3daecb5a55d_18_0)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218efffc9_0_2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e218efffc9_0_236"/>
          <p:cNvSpPr txBox="1"/>
          <p:nvPr>
            <p:ph idx="1" type="body"/>
          </p:nvPr>
        </p:nvSpPr>
        <p:spPr>
          <a:xfrm>
            <a:off x="838200" y="1825625"/>
            <a:ext cx="105156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e218efffc9_0_236"/>
          <p:cNvSpPr txBox="1"/>
          <p:nvPr>
            <p:ph idx="10" type="dt"/>
          </p:nvPr>
        </p:nvSpPr>
        <p:spPr>
          <a:xfrm>
            <a:off x="8743949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e218efffc9_0_236"/>
          <p:cNvSpPr txBox="1"/>
          <p:nvPr>
            <p:ph idx="11" type="ftr"/>
          </p:nvPr>
        </p:nvSpPr>
        <p:spPr>
          <a:xfrm>
            <a:off x="4038600" y="623728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e218efffc9_0_236"/>
          <p:cNvSpPr txBox="1"/>
          <p:nvPr>
            <p:ph idx="12" type="sldNum"/>
          </p:nvPr>
        </p:nvSpPr>
        <p:spPr>
          <a:xfrm>
            <a:off x="10048875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daecb5a55d_25_0)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218efffc9_0_2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e218efffc9_0_224"/>
          <p:cNvSpPr txBox="1"/>
          <p:nvPr>
            <p:ph idx="1" type="body"/>
          </p:nvPr>
        </p:nvSpPr>
        <p:spPr>
          <a:xfrm>
            <a:off x="838200" y="1825625"/>
            <a:ext cx="105156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e218efffc9_0_224"/>
          <p:cNvSpPr txBox="1"/>
          <p:nvPr>
            <p:ph idx="10" type="dt"/>
          </p:nvPr>
        </p:nvSpPr>
        <p:spPr>
          <a:xfrm>
            <a:off x="8743949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e218efffc9_0_224"/>
          <p:cNvSpPr txBox="1"/>
          <p:nvPr>
            <p:ph idx="11" type="ftr"/>
          </p:nvPr>
        </p:nvSpPr>
        <p:spPr>
          <a:xfrm>
            <a:off x="4038600" y="623728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e218efffc9_0_224"/>
          <p:cNvSpPr txBox="1"/>
          <p:nvPr>
            <p:ph idx="12" type="sldNum"/>
          </p:nvPr>
        </p:nvSpPr>
        <p:spPr>
          <a:xfrm>
            <a:off x="10048875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3">
  <p:cSld name="Title and Content (g3d8fe440863_12_0)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218efffc9_0_22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e218efffc9_0_2280"/>
          <p:cNvSpPr txBox="1"/>
          <p:nvPr>
            <p:ph idx="1" type="body"/>
          </p:nvPr>
        </p:nvSpPr>
        <p:spPr>
          <a:xfrm>
            <a:off x="838200" y="1825625"/>
            <a:ext cx="105156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e218efffc9_0_2280"/>
          <p:cNvSpPr txBox="1"/>
          <p:nvPr>
            <p:ph idx="10" type="dt"/>
          </p:nvPr>
        </p:nvSpPr>
        <p:spPr>
          <a:xfrm>
            <a:off x="8743949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e218efffc9_0_2280"/>
          <p:cNvSpPr txBox="1"/>
          <p:nvPr>
            <p:ph idx="11" type="ftr"/>
          </p:nvPr>
        </p:nvSpPr>
        <p:spPr>
          <a:xfrm>
            <a:off x="4038600" y="623728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e218efffc9_0_2280"/>
          <p:cNvSpPr txBox="1"/>
          <p:nvPr>
            <p:ph idx="12" type="sldNum"/>
          </p:nvPr>
        </p:nvSpPr>
        <p:spPr>
          <a:xfrm>
            <a:off x="10048875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5019675" y="1914525"/>
            <a:ext cx="7172325" cy="1807932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8743949" y="6235699"/>
            <a:ext cx="13049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038600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0048875" y="6235699"/>
            <a:ext cx="1304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5153024" y="1914525"/>
            <a:ext cx="7038976" cy="1807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1" y="5800724"/>
            <a:ext cx="1425344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1914525"/>
            <a:ext cx="4069601" cy="1807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838200" y="1825625"/>
            <a:ext cx="10515600" cy="3828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8743949" y="6235699"/>
            <a:ext cx="13049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038600" y="623728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048875" y="6235699"/>
            <a:ext cx="1304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1" y="5800724"/>
            <a:ext cx="1425344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1" y="6738028"/>
            <a:ext cx="4029074" cy="119972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081463" y="6738028"/>
            <a:ext cx="4029074" cy="119972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8162926" y="6738028"/>
            <a:ext cx="4029074" cy="119972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838200" y="1825625"/>
            <a:ext cx="5181600" cy="3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2" type="body"/>
          </p:nvPr>
        </p:nvSpPr>
        <p:spPr>
          <a:xfrm>
            <a:off x="6172200" y="1825625"/>
            <a:ext cx="5181600" cy="3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0" type="dt"/>
          </p:nvPr>
        </p:nvSpPr>
        <p:spPr>
          <a:xfrm>
            <a:off x="9063037" y="6194425"/>
            <a:ext cx="11334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4038600" y="61944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10220324" y="6194425"/>
            <a:ext cx="11334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1" y="5800724"/>
            <a:ext cx="1425344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1" y="6738028"/>
            <a:ext cx="4029074" cy="119972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4081463" y="6738028"/>
            <a:ext cx="4029074" cy="119972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162926" y="6738028"/>
            <a:ext cx="4029074" cy="119972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Title and Content (g3daecb5a55d_11_0)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ffa744e5c2831cb_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5ffa744e5c2831cb_71"/>
          <p:cNvSpPr txBox="1"/>
          <p:nvPr>
            <p:ph idx="1" type="body"/>
          </p:nvPr>
        </p:nvSpPr>
        <p:spPr>
          <a:xfrm>
            <a:off x="838200" y="1825625"/>
            <a:ext cx="105156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5ffa744e5c2831cb_71"/>
          <p:cNvSpPr txBox="1"/>
          <p:nvPr>
            <p:ph idx="10" type="dt"/>
          </p:nvPr>
        </p:nvSpPr>
        <p:spPr>
          <a:xfrm>
            <a:off x="8743949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g5ffa744e5c2831cb_71"/>
          <p:cNvSpPr txBox="1"/>
          <p:nvPr>
            <p:ph idx="11" type="ftr"/>
          </p:nvPr>
        </p:nvSpPr>
        <p:spPr>
          <a:xfrm>
            <a:off x="4038600" y="623728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5ffa744e5c2831cb_71"/>
          <p:cNvSpPr txBox="1"/>
          <p:nvPr>
            <p:ph idx="12" type="sldNum"/>
          </p:nvPr>
        </p:nvSpPr>
        <p:spPr>
          <a:xfrm>
            <a:off x="10048875" y="6235699"/>
            <a:ext cx="130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theme" Target="../theme/theme1.xml"/><Relationship Id="rId1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3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B4C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3828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9063037" y="6194425"/>
            <a:ext cx="11334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1944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10220324" y="6194425"/>
            <a:ext cx="11334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11" name="Picture 10" descr="778aa34f-cbb0-459e-8a4a-2a8adac6294f_ti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778aa34f-cbb0-459e-8a4a-2a8adac6294f_t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447800" y="3296572"/>
            <a:ext cx="91440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</a:pPr>
            <a:r>
              <a:rPr lang="en-CA" sz="2400"/>
              <a:t>Mary Wang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</a:pPr>
            <a:r>
              <a:rPr lang="en-CA" sz="2400"/>
              <a:t>Executive Director of Open Chain Project, Linux Foundation </a:t>
            </a:r>
            <a:endParaRPr sz="24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447800" y="4667250"/>
            <a:ext cx="9144000" cy="428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4C2"/>
              </a:buClr>
              <a:buSzPts val="2400"/>
              <a:buNone/>
            </a:pPr>
            <a:r>
              <a:rPr lang="en-CA">
                <a:solidFill>
                  <a:srgbClr val="7F7F7F"/>
                </a:solidFill>
              </a:rPr>
              <a:t>Based in Sweden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409975" y="5034875"/>
            <a:ext cx="3980400" cy="88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033dc0c4_0_288"/>
          <p:cNvSpPr/>
          <p:nvPr/>
        </p:nvSpPr>
        <p:spPr>
          <a:xfrm>
            <a:off x="838200" y="1698652"/>
            <a:ext cx="10515600" cy="1905000"/>
          </a:xfrm>
          <a:prstGeom prst="roundRect">
            <a:avLst>
              <a:gd fmla="val 3840" name="adj"/>
            </a:avLst>
          </a:prstGeom>
          <a:solidFill>
            <a:srgbClr val="00B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6033dc0c4_0_288"/>
          <p:cNvSpPr/>
          <p:nvPr/>
        </p:nvSpPr>
        <p:spPr>
          <a:xfrm>
            <a:off x="838200" y="1768513"/>
            <a:ext cx="10515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25" lIns="2525" spcFirstLastPara="1" rIns="2525" wrap="square" tIns="2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CA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Trust </a:t>
            </a:r>
            <a:r>
              <a:rPr b="1" lang="en-CA" sz="3400">
                <a:solidFill>
                  <a:srgbClr val="FFFFFF"/>
                </a:solidFill>
              </a:rPr>
              <a:t>in</a:t>
            </a:r>
            <a:r>
              <a:rPr b="1" i="0" lang="en-CA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the</a:t>
            </a:r>
            <a:r>
              <a:rPr b="1" lang="en-CA" sz="3400">
                <a:solidFill>
                  <a:srgbClr val="FFFFFF"/>
                </a:solidFill>
              </a:rPr>
              <a:t> </a:t>
            </a:r>
            <a:r>
              <a:rPr b="1" i="0" lang="en-CA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Supply Chain </a:t>
            </a:r>
            <a:endParaRPr b="1" i="0" sz="3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CA" sz="2400">
                <a:solidFill>
                  <a:srgbClr val="FFFFFF"/>
                </a:solidFill>
              </a:rPr>
              <a:t>Since 2016 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descr="/home/claude/aisbom/logo_full.png" id="96" name="Google Shape;96;g3f6033dc0c4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9913" y="373900"/>
            <a:ext cx="1848400" cy="102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6033dc0c4_0_288"/>
          <p:cNvSpPr/>
          <p:nvPr/>
        </p:nvSpPr>
        <p:spPr>
          <a:xfrm>
            <a:off x="0" y="6738028"/>
            <a:ext cx="4029000" cy="120000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6033dc0c4_0_288"/>
          <p:cNvSpPr/>
          <p:nvPr/>
        </p:nvSpPr>
        <p:spPr>
          <a:xfrm>
            <a:off x="4029074" y="6738028"/>
            <a:ext cx="4029000" cy="120000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6033dc0c4_0_288"/>
          <p:cNvSpPr/>
          <p:nvPr/>
        </p:nvSpPr>
        <p:spPr>
          <a:xfrm>
            <a:off x="8058148" y="6738028"/>
            <a:ext cx="4029000" cy="1200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18efffc9_0_1391"/>
          <p:cNvSpPr/>
          <p:nvPr/>
        </p:nvSpPr>
        <p:spPr>
          <a:xfrm>
            <a:off x="8858250" y="-1428750"/>
            <a:ext cx="4762500" cy="4762500"/>
          </a:xfrm>
          <a:prstGeom prst="ellipse">
            <a:avLst/>
          </a:prstGeom>
          <a:solidFill>
            <a:srgbClr val="00B4C2">
              <a:alpha val="51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218efffc9_0_1391"/>
          <p:cNvSpPr/>
          <p:nvPr/>
        </p:nvSpPr>
        <p:spPr>
          <a:xfrm>
            <a:off x="-762000" y="4191000"/>
            <a:ext cx="3429000" cy="3429000"/>
          </a:xfrm>
          <a:prstGeom prst="ellipse">
            <a:avLst/>
          </a:prstGeom>
          <a:solidFill>
            <a:srgbClr val="E65A2A">
              <a:alpha val="51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e218efffc9_0_1391"/>
          <p:cNvSpPr/>
          <p:nvPr/>
        </p:nvSpPr>
        <p:spPr>
          <a:xfrm>
            <a:off x="1" y="6738028"/>
            <a:ext cx="4029000" cy="120000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218efffc9_0_1391"/>
          <p:cNvSpPr/>
          <p:nvPr/>
        </p:nvSpPr>
        <p:spPr>
          <a:xfrm>
            <a:off x="4081463" y="6738028"/>
            <a:ext cx="4029000" cy="120000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218efffc9_0_1391"/>
          <p:cNvSpPr/>
          <p:nvPr/>
        </p:nvSpPr>
        <p:spPr>
          <a:xfrm>
            <a:off x="8162926" y="6738028"/>
            <a:ext cx="4029000" cy="1200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g3e218efffc9_0_1391"/>
          <p:cNvGrpSpPr/>
          <p:nvPr/>
        </p:nvGrpSpPr>
        <p:grpSpPr>
          <a:xfrm>
            <a:off x="2286000" y="1524000"/>
            <a:ext cx="7620000" cy="3810000"/>
            <a:chOff x="2286000" y="1524000"/>
            <a:chExt cx="7620000" cy="3810000"/>
          </a:xfrm>
        </p:grpSpPr>
        <p:sp>
          <p:nvSpPr>
            <p:cNvPr id="110" name="Google Shape;110;g3e218efffc9_0_1391"/>
            <p:cNvSpPr/>
            <p:nvPr/>
          </p:nvSpPr>
          <p:spPr>
            <a:xfrm>
              <a:off x="2286000" y="1524000"/>
              <a:ext cx="7620000" cy="3810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00B4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e218efffc9_0_1391"/>
            <p:cNvSpPr txBox="1"/>
            <p:nvPr/>
          </p:nvSpPr>
          <p:spPr>
            <a:xfrm>
              <a:off x="2571750" y="1809750"/>
              <a:ext cx="7048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CA" sz="3200" u="none" cap="none" strike="noStrike">
                  <a:solidFill>
                    <a:srgbClr val="00849D"/>
                  </a:solidFill>
                  <a:latin typeface="Arial"/>
                  <a:ea typeface="Arial"/>
                  <a:cs typeface="Arial"/>
                  <a:sym typeface="Arial"/>
                </a:rPr>
                <a:t>ISO 5230 </a:t>
              </a:r>
              <a:r>
                <a:rPr b="1" lang="en-CA" sz="3200">
                  <a:solidFill>
                    <a:srgbClr val="00849D"/>
                  </a:solidFill>
                </a:rPr>
                <a:t>&amp;</a:t>
              </a:r>
              <a:r>
                <a:rPr b="1" i="0" lang="en-CA" sz="3200" u="none" cap="none" strike="noStrike">
                  <a:solidFill>
                    <a:srgbClr val="00849D"/>
                  </a:solidFill>
                  <a:latin typeface="Arial"/>
                  <a:ea typeface="Arial"/>
                  <a:cs typeface="Arial"/>
                  <a:sym typeface="Arial"/>
                </a:rPr>
                <a:t> ISO</a:t>
              </a:r>
              <a:r>
                <a:rPr b="1" lang="en-CA" sz="3200">
                  <a:solidFill>
                    <a:srgbClr val="00849D"/>
                  </a:solidFill>
                </a:rPr>
                <a:t> </a:t>
              </a:r>
              <a:r>
                <a:rPr b="1" i="0" lang="en-CA" sz="3200" u="none" cap="none" strike="noStrike">
                  <a:solidFill>
                    <a:srgbClr val="00849D"/>
                  </a:solidFill>
                  <a:latin typeface="Arial"/>
                  <a:ea typeface="Arial"/>
                  <a:cs typeface="Arial"/>
                  <a:sym typeface="Arial"/>
                </a:rPr>
                <a:t>18974</a:t>
              </a:r>
              <a:endParaRPr b="1" sz="3200">
                <a:solidFill>
                  <a:srgbClr val="00849D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sng" cap="none" strike="noStrike">
                <a:solidFill>
                  <a:srgbClr val="FFFFFF"/>
                </a:solidFill>
                <a:highlight>
                  <a:srgbClr val="00B4C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2" name="Google Shape;112;g3e218efffc9_0_1391"/>
          <p:cNvPicPr preferRelativeResize="0"/>
          <p:nvPr/>
        </p:nvPicPr>
        <p:blipFill rotWithShape="1">
          <a:blip r:embed="rId4">
            <a:alphaModFix/>
          </a:blip>
          <a:srcRect b="0" l="70" r="60" t="0"/>
          <a:stretch/>
        </p:blipFill>
        <p:spPr>
          <a:xfrm>
            <a:off x="838200" y="5619750"/>
            <a:ext cx="1425300" cy="7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f693d59d67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1" y="5800724"/>
            <a:ext cx="1425344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693d59d67_0_26"/>
          <p:cNvSpPr/>
          <p:nvPr/>
        </p:nvSpPr>
        <p:spPr>
          <a:xfrm>
            <a:off x="1" y="6738028"/>
            <a:ext cx="4029000" cy="120000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693d59d67_0_26"/>
          <p:cNvSpPr/>
          <p:nvPr/>
        </p:nvSpPr>
        <p:spPr>
          <a:xfrm>
            <a:off x="4081463" y="6738028"/>
            <a:ext cx="4029000" cy="120000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693d59d67_0_26"/>
          <p:cNvSpPr/>
          <p:nvPr/>
        </p:nvSpPr>
        <p:spPr>
          <a:xfrm>
            <a:off x="8162926" y="6738028"/>
            <a:ext cx="4029000" cy="1200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f693d59d67_0_26"/>
          <p:cNvSpPr txBox="1"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CA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Over 100 companies adopted our standards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f693d59d67_0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5945" y="1104900"/>
            <a:ext cx="2748330" cy="548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f693d59d67_0_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4276" y="1104900"/>
            <a:ext cx="2790328" cy="548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93d59d67_0_103"/>
          <p:cNvSpPr/>
          <p:nvPr/>
        </p:nvSpPr>
        <p:spPr>
          <a:xfrm>
            <a:off x="1275350" y="1327946"/>
            <a:ext cx="3840600" cy="914400"/>
          </a:xfrm>
          <a:prstGeom prst="roundRect">
            <a:avLst>
              <a:gd fmla="val 6000" name="adj"/>
            </a:avLst>
          </a:prstGeom>
          <a:solidFill>
            <a:srgbClr val="0084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693d59d67_0_103"/>
          <p:cNvSpPr/>
          <p:nvPr/>
        </p:nvSpPr>
        <p:spPr>
          <a:xfrm>
            <a:off x="1458230" y="1419386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C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ISO/IEC 5230:2020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693d59d67_0_103"/>
          <p:cNvSpPr/>
          <p:nvPr/>
        </p:nvSpPr>
        <p:spPr>
          <a:xfrm>
            <a:off x="1458230" y="1766858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CA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source license compliance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693d59d67_0_103"/>
          <p:cNvSpPr/>
          <p:nvPr/>
        </p:nvSpPr>
        <p:spPr>
          <a:xfrm>
            <a:off x="1275350" y="2425226"/>
            <a:ext cx="3840600" cy="914400"/>
          </a:xfrm>
          <a:prstGeom prst="roundRect">
            <a:avLst>
              <a:gd fmla="val 6000" name="adj"/>
            </a:avLst>
          </a:prstGeom>
          <a:solidFill>
            <a:srgbClr val="0084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693d59d67_0_103"/>
          <p:cNvSpPr/>
          <p:nvPr/>
        </p:nvSpPr>
        <p:spPr>
          <a:xfrm>
            <a:off x="1458230" y="2516666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C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ISO/IEC 18974:2023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693d59d67_0_103"/>
          <p:cNvSpPr/>
          <p:nvPr/>
        </p:nvSpPr>
        <p:spPr>
          <a:xfrm>
            <a:off x="1458230" y="2864138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CA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Assuance compliance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693d59d67_0_103"/>
          <p:cNvSpPr/>
          <p:nvPr/>
        </p:nvSpPr>
        <p:spPr>
          <a:xfrm>
            <a:off x="1275350" y="3522506"/>
            <a:ext cx="3840600" cy="914400"/>
          </a:xfrm>
          <a:prstGeom prst="roundRect">
            <a:avLst>
              <a:gd fmla="val 6000" name="adj"/>
            </a:avLst>
          </a:prstGeom>
          <a:solidFill>
            <a:srgbClr val="0084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693d59d67_0_103"/>
          <p:cNvSpPr/>
          <p:nvPr/>
        </p:nvSpPr>
        <p:spPr>
          <a:xfrm>
            <a:off x="1458230" y="3613946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C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CRA Compliance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693d59d67_0_103"/>
          <p:cNvSpPr/>
          <p:nvPr/>
        </p:nvSpPr>
        <p:spPr>
          <a:xfrm>
            <a:off x="1458230" y="3961418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CA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SPDX specification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693d59d67_0_103"/>
          <p:cNvSpPr/>
          <p:nvPr/>
        </p:nvSpPr>
        <p:spPr>
          <a:xfrm>
            <a:off x="0" y="6738028"/>
            <a:ext cx="4029000" cy="120000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693d59d67_0_103"/>
          <p:cNvSpPr/>
          <p:nvPr/>
        </p:nvSpPr>
        <p:spPr>
          <a:xfrm>
            <a:off x="4029074" y="6738028"/>
            <a:ext cx="4029000" cy="120000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693d59d67_0_103"/>
          <p:cNvSpPr/>
          <p:nvPr/>
        </p:nvSpPr>
        <p:spPr>
          <a:xfrm>
            <a:off x="8058148" y="6738028"/>
            <a:ext cx="4029000" cy="1200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aisbom/logo_footer.png" id="141" name="Google Shape;141;g3f693d59d67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5928802"/>
            <a:ext cx="1026248" cy="569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f693d59d67_0_103"/>
          <p:cNvSpPr/>
          <p:nvPr/>
        </p:nvSpPr>
        <p:spPr>
          <a:xfrm>
            <a:off x="11430000" y="635398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</a:pPr>
            <a:r>
              <a:rPr b="0" i="0" lang="en-CA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693d59d67_0_103"/>
          <p:cNvSpPr txBox="1"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CA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OpenChain and all of yours Goal is: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693d59d67_0_103"/>
          <p:cNvSpPr/>
          <p:nvPr/>
        </p:nvSpPr>
        <p:spPr>
          <a:xfrm>
            <a:off x="1275350" y="4619781"/>
            <a:ext cx="3840600" cy="914400"/>
          </a:xfrm>
          <a:prstGeom prst="roundRect">
            <a:avLst>
              <a:gd fmla="val 6000" name="adj"/>
            </a:avLst>
          </a:prstGeom>
          <a:solidFill>
            <a:srgbClr val="0084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693d59d67_0_103"/>
          <p:cNvSpPr/>
          <p:nvPr/>
        </p:nvSpPr>
        <p:spPr>
          <a:xfrm>
            <a:off x="1458230" y="4711221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C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Compliance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693d59d67_0_103"/>
          <p:cNvSpPr/>
          <p:nvPr/>
        </p:nvSpPr>
        <p:spPr>
          <a:xfrm>
            <a:off x="8139643" y="2453583"/>
            <a:ext cx="3381000" cy="1715100"/>
          </a:xfrm>
          <a:prstGeom prst="roundRect">
            <a:avLst>
              <a:gd fmla="val 6000" name="adj"/>
            </a:avLst>
          </a:prstGeom>
          <a:solidFill>
            <a:srgbClr val="00B4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accen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693d59d67_0_103"/>
          <p:cNvSpPr/>
          <p:nvPr/>
        </p:nvSpPr>
        <p:spPr>
          <a:xfrm>
            <a:off x="8468620" y="2705908"/>
            <a:ext cx="24180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CA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SBOM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CA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(e.g. SPDX file)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693d59d67_0_103"/>
          <p:cNvSpPr/>
          <p:nvPr/>
        </p:nvSpPr>
        <p:spPr>
          <a:xfrm>
            <a:off x="5558713" y="3144450"/>
            <a:ext cx="2295600" cy="5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693d59d67_0_103"/>
          <p:cNvSpPr/>
          <p:nvPr/>
        </p:nvSpPr>
        <p:spPr>
          <a:xfrm>
            <a:off x="6221350" y="4086263"/>
            <a:ext cx="561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250"/>
              <a:buFont typeface="Arial"/>
              <a:buNone/>
            </a:pPr>
            <a:r>
              <a:rPr b="0" i="0" lang="en-CA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rPr>
              <a:t>SBOM Resources: https://openchainproject.org/sbom-resources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daecb5a55d_0_8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1" y="5800724"/>
            <a:ext cx="1425344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aecb5a55d_0_823"/>
          <p:cNvSpPr/>
          <p:nvPr/>
        </p:nvSpPr>
        <p:spPr>
          <a:xfrm>
            <a:off x="1" y="6738028"/>
            <a:ext cx="4029000" cy="120000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aecb5a55d_0_823"/>
          <p:cNvSpPr/>
          <p:nvPr/>
        </p:nvSpPr>
        <p:spPr>
          <a:xfrm>
            <a:off x="4081463" y="6738028"/>
            <a:ext cx="4029000" cy="120000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aecb5a55d_0_823"/>
          <p:cNvSpPr/>
          <p:nvPr/>
        </p:nvSpPr>
        <p:spPr>
          <a:xfrm>
            <a:off x="8162926" y="6738028"/>
            <a:ext cx="4029000" cy="1200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g3daecb5a55d_0_823"/>
          <p:cNvGrpSpPr/>
          <p:nvPr/>
        </p:nvGrpSpPr>
        <p:grpSpPr>
          <a:xfrm>
            <a:off x="7924800" y="1524000"/>
            <a:ext cx="3429000" cy="3238500"/>
            <a:chOff x="7924800" y="1524000"/>
            <a:chExt cx="3429000" cy="3238500"/>
          </a:xfrm>
        </p:grpSpPr>
        <p:sp>
          <p:nvSpPr>
            <p:cNvPr id="159" name="Google Shape;159;g3daecb5a55d_0_823"/>
            <p:cNvSpPr/>
            <p:nvPr/>
          </p:nvSpPr>
          <p:spPr>
            <a:xfrm>
              <a:off x="79248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daecb5a55d_0_823"/>
            <p:cNvSpPr txBox="1"/>
            <p:nvPr/>
          </p:nvSpPr>
          <p:spPr>
            <a:xfrm>
              <a:off x="8115300" y="171450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-CA" sz="1600">
                  <a:solidFill>
                    <a:srgbClr val="00849D"/>
                  </a:solidFill>
                </a:rPr>
                <a:t>OpenChain</a:t>
              </a:r>
              <a:r>
                <a:rPr b="1" i="0" lang="en-CA" sz="1600" u="none" cap="none" strike="noStrike">
                  <a:solidFill>
                    <a:srgbClr val="00849D"/>
                  </a:solidFill>
                  <a:latin typeface="Arial"/>
                  <a:ea typeface="Arial"/>
                  <a:cs typeface="Arial"/>
                  <a:sym typeface="Arial"/>
                </a:rPr>
                <a:t> Ambassadors:</a:t>
              </a:r>
              <a:endParaRPr b="1" i="0" sz="1600" u="none" cap="none" strike="noStrike">
                <a:solidFill>
                  <a:srgbClr val="0084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" name="Google Shape;161;g3daecb5a55d_0_823"/>
            <p:cNvPicPr preferRelativeResize="0"/>
            <p:nvPr/>
          </p:nvPicPr>
          <p:blipFill rotWithShape="1">
            <a:blip r:embed="rId5">
              <a:alphaModFix/>
            </a:blip>
            <a:srcRect b="0" l="7556" r="7547" t="0"/>
            <a:stretch/>
          </p:blipFill>
          <p:spPr>
            <a:xfrm>
              <a:off x="8115300" y="2190750"/>
              <a:ext cx="3048000" cy="228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g3daecb5a55d_0_823"/>
          <p:cNvGrpSpPr/>
          <p:nvPr/>
        </p:nvGrpSpPr>
        <p:grpSpPr>
          <a:xfrm>
            <a:off x="7924800" y="4953000"/>
            <a:ext cx="3429000" cy="1047900"/>
            <a:chOff x="7924800" y="4953000"/>
            <a:chExt cx="3429000" cy="1047900"/>
          </a:xfrm>
        </p:grpSpPr>
        <p:sp>
          <p:nvSpPr>
            <p:cNvPr id="163" name="Google Shape;163;g3daecb5a55d_0_823"/>
            <p:cNvSpPr/>
            <p:nvPr/>
          </p:nvSpPr>
          <p:spPr>
            <a:xfrm>
              <a:off x="7924800" y="4953000"/>
              <a:ext cx="3429000" cy="1047900"/>
            </a:xfrm>
            <a:prstGeom prst="roundRect">
              <a:avLst>
                <a:gd fmla="val 13636" name="adj"/>
              </a:avLst>
            </a:prstGeom>
            <a:solidFill>
              <a:srgbClr val="F0FDFA"/>
            </a:solidFill>
            <a:ln cap="flat" cmpd="sng" w="9525">
              <a:solidFill>
                <a:srgbClr val="CCFB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daecb5a55d_0_823"/>
            <p:cNvSpPr txBox="1"/>
            <p:nvPr/>
          </p:nvSpPr>
          <p:spPr>
            <a:xfrm>
              <a:off x="8115300" y="509587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CA" sz="1200" u="none" cap="none" strike="noStrike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For more information, please visit:</a:t>
              </a:r>
              <a:endParaRPr b="1" i="0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CA" sz="1100" u="none" cap="none" strike="noStrike">
                  <a:solidFill>
                    <a:srgbClr val="00849D"/>
                  </a:solidFill>
                  <a:latin typeface="Arial"/>
                  <a:ea typeface="Arial"/>
                  <a:cs typeface="Arial"/>
                  <a:sym typeface="Arial"/>
                </a:rPr>
                <a:t>https://openchainproject.org/community</a:t>
              </a:r>
              <a:endParaRPr b="0" i="0" sz="1100" u="none" cap="none" strike="noStrike">
                <a:solidFill>
                  <a:srgbClr val="0084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5" name="Google Shape;165;g3daecb5a55d_0_823" title="Screenshot 2026-04-24 at 12.03.4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9250" y="1595400"/>
            <a:ext cx="6262525" cy="41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daecb5a55d_0_823"/>
          <p:cNvSpPr txBox="1"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CA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OpenChain Community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033dc0c4_0_385"/>
          <p:cNvSpPr/>
          <p:nvPr/>
        </p:nvSpPr>
        <p:spPr>
          <a:xfrm>
            <a:off x="8858250" y="-1428750"/>
            <a:ext cx="4762500" cy="4762500"/>
          </a:xfrm>
          <a:prstGeom prst="ellipse">
            <a:avLst/>
          </a:prstGeom>
          <a:solidFill>
            <a:srgbClr val="00B4C2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6033dc0c4_0_385"/>
          <p:cNvSpPr/>
          <p:nvPr/>
        </p:nvSpPr>
        <p:spPr>
          <a:xfrm>
            <a:off x="-762000" y="4191000"/>
            <a:ext cx="3429000" cy="3429000"/>
          </a:xfrm>
          <a:prstGeom prst="ellipse">
            <a:avLst/>
          </a:prstGeom>
          <a:solidFill>
            <a:srgbClr val="E65A2A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6033dc0c4_0_385"/>
          <p:cNvSpPr/>
          <p:nvPr/>
        </p:nvSpPr>
        <p:spPr>
          <a:xfrm>
            <a:off x="1" y="6738028"/>
            <a:ext cx="4029000" cy="120000"/>
          </a:xfrm>
          <a:prstGeom prst="rect">
            <a:avLst/>
          </a:prstGeom>
          <a:solidFill>
            <a:srgbClr val="E65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6033dc0c4_0_385"/>
          <p:cNvSpPr/>
          <p:nvPr/>
        </p:nvSpPr>
        <p:spPr>
          <a:xfrm>
            <a:off x="4081463" y="6738028"/>
            <a:ext cx="4029000" cy="120000"/>
          </a:xfrm>
          <a:prstGeom prst="rect">
            <a:avLst/>
          </a:prstGeom>
          <a:solidFill>
            <a:srgbClr val="0084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6033dc0c4_0_385"/>
          <p:cNvSpPr/>
          <p:nvPr/>
        </p:nvSpPr>
        <p:spPr>
          <a:xfrm>
            <a:off x="8162926" y="6738028"/>
            <a:ext cx="4029000" cy="120000"/>
          </a:xfrm>
          <a:prstGeom prst="rect">
            <a:avLst/>
          </a:prstGeom>
          <a:solidFill>
            <a:srgbClr val="00B4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6033dc0c4_0_385"/>
          <p:cNvSpPr txBox="1"/>
          <p:nvPr/>
        </p:nvSpPr>
        <p:spPr>
          <a:xfrm>
            <a:off x="3801000" y="736871"/>
            <a:ext cx="5143500" cy="109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0"/>
              <a:buFont typeface="Arial"/>
              <a:buNone/>
            </a:pPr>
            <a:r>
              <a:rPr b="1" i="0" lang="en-CA" sz="7140" u="none" cap="none" strike="noStrike">
                <a:solidFill>
                  <a:srgbClr val="00B4C2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7140" u="none" cap="none" strike="noStrike">
              <a:solidFill>
                <a:srgbClr val="00B4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g3f6033dc0c4_0_385"/>
          <p:cNvPicPr preferRelativeResize="0"/>
          <p:nvPr/>
        </p:nvPicPr>
        <p:blipFill rotWithShape="1">
          <a:blip r:embed="rId4">
            <a:alphaModFix/>
          </a:blip>
          <a:srcRect b="0" l="70" r="60" t="0"/>
          <a:stretch/>
        </p:blipFill>
        <p:spPr>
          <a:xfrm>
            <a:off x="838200" y="5619750"/>
            <a:ext cx="1425300" cy="7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g3f6033dc0c4_0_385"/>
          <p:cNvGrpSpPr/>
          <p:nvPr/>
        </p:nvGrpSpPr>
        <p:grpSpPr>
          <a:xfrm>
            <a:off x="4204261" y="1951475"/>
            <a:ext cx="3619500" cy="3714900"/>
            <a:chOff x="7429500" y="2571750"/>
            <a:chExt cx="3619500" cy="3714900"/>
          </a:xfrm>
        </p:grpSpPr>
        <p:sp>
          <p:nvSpPr>
            <p:cNvPr id="179" name="Google Shape;179;g3f6033dc0c4_0_385"/>
            <p:cNvSpPr/>
            <p:nvPr/>
          </p:nvSpPr>
          <p:spPr>
            <a:xfrm>
              <a:off x="7429500" y="2571750"/>
              <a:ext cx="3619500" cy="3714900"/>
            </a:xfrm>
            <a:prstGeom prst="roundRect">
              <a:avLst>
                <a:gd fmla="val 3947" name="adj"/>
              </a:avLst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f6033dc0c4_0_385"/>
            <p:cNvSpPr txBox="1"/>
            <p:nvPr/>
          </p:nvSpPr>
          <p:spPr>
            <a:xfrm>
              <a:off x="7429500" y="276225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CA" sz="2000" u="none" cap="none" strike="noStrike">
                  <a:solidFill>
                    <a:srgbClr val="00B4C2"/>
                  </a:solidFill>
                  <a:latin typeface="Arial"/>
                  <a:ea typeface="Arial"/>
                  <a:cs typeface="Arial"/>
                  <a:sym typeface="Arial"/>
                </a:rPr>
                <a:t>WeChat</a:t>
              </a:r>
              <a:endParaRPr b="1" i="0" sz="2000" u="none" cap="none" strike="noStrike">
                <a:solidFill>
                  <a:srgbClr val="00B4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1" name="Google Shape;181;g3f6033dc0c4_0_385"/>
          <p:cNvPicPr preferRelativeResize="0"/>
          <p:nvPr/>
        </p:nvPicPr>
        <p:blipFill rotWithShape="1">
          <a:blip r:embed="rId5">
            <a:alphaModFix/>
          </a:blip>
          <a:srcRect b="4070" l="0" r="0" t="4061"/>
          <a:stretch/>
        </p:blipFill>
        <p:spPr>
          <a:xfrm>
            <a:off x="4490011" y="2618225"/>
            <a:ext cx="3047999" cy="285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2015-04-15T12:52:20Z</dcterms:created>
  <dc:creator>thre3</dc:creator>
  <dc:description>﻿﻿﻿﻿﻿﻿﻿﻿﻿﻿﻿﻿﻿﻿﻿﻿﻿﻿﻿﻿﻿﻿⁡‌​​​⁠</dc:description>
</cp:coreProperties>
</file>